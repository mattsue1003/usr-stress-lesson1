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開場先不要講理論。請大家坐好，先問一句：「今天走進來的時候，肩膀是鬆的還是緊的？」讓現場先動起來。</a:t>
            </a:r>
          </a:p>
          <a:p>
            <a:r>
              <a:t>介紹自己與愛迪樂，說明三堂課的脈絡：第一堂覺察與放鬆、第二堂身心修復、第三堂藝術輔療。</a:t>
            </a:r>
          </a:p>
          <a:p>
            <a:r>
              <a:t>提醒：今天的動作全部可以坐著做，不舒服就停。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講清楚今天的節奏：先動手按摩，身體暖了再講研究；伸展配音樂；正念放最後收心。</a:t>
            </a:r>
          </a:p>
          <a:p>
            <a:r>
              <a:t>強調：研究是用來幫我們選對方法，不是用來背的。</a:t>
            </a:r>
          </a:p>
          <a:p>
            <a:r>
              <a:t>請學員先把椅子排成兩人一組面對面或前後坐，等一下按摩直接用。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請每個人在心裡選一個數字，也可以請幾位說出來。講師在投影機上點一個「全場代表值」即可。</a:t>
            </a:r>
          </a:p>
          <a:p>
            <a:r>
              <a:t>說明：這就是覺察的第一步，先注意到，不急著改變。課程最後會再量一次。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用白話講：壓力反應是身體在「備戰」。短期是好事，長期不關機才是問題。</a:t>
            </a:r>
          </a:p>
          <a:p>
            <a:r>
              <a:t>請大家對照右邊的訊號，問：「哪一個你最近常有？」舉手統計。</a:t>
            </a:r>
          </a:p>
          <a:p>
            <a:r>
              <a:t>不要恐嚇。重點是：這些訊號是身體在說話，我們今天學的是怎麼聽，怎麼回應。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轉場。請大家兩人一組，面對面或前後坐。先問：「你多久沒有被人好好按一下肩膀了？」</a:t>
            </a:r>
          </a:p>
          <a:p>
            <a:r>
              <a:t>今天不先講理論，先按，身體暖了再看研究。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這一頁是今天最有力的證據之一。</a:t>
            </a:r>
          </a:p>
          <a:p>
            <a:r>
              <a:t>Packheiser 2024 是 Nature Human Behaviour 的大型統合分析，212 篇研究、將近 13,000 人。</a:t>
            </a:r>
          </a:p>
          <a:p>
            <a:r>
              <a:t>請特別強調三點：一、頭臉部的觸摸效果比較好；二、次數比時間長短重要；三、連單純休息都有效，所以「停下來」本身就是一種治療。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先投票再公布。很多人會選 C，因為台灣的按摩文化是「愈痛愈有效」。</a:t>
            </a:r>
          </a:p>
          <a:p>
            <a:r>
              <a:t>研究結果：中等力道才放鬆，太輕反而讓人警醒，太痛會啟動交感神經。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結論：減壓最有證據的是「中等力道、慢速、頭頸肩的放鬆式按摩」，而且自己按也算。</a:t>
            </a:r>
          </a:p>
          <a:p>
            <a:r>
              <a:t>筋膜滾筒和按摩球的證據主要在「痠痛和柔軟度」，對自律神經的研究結果不一致，所以今天把它們當「配角」，用在腳底和臀部。</a:t>
            </a:r>
          </a:p>
          <a:p>
            <a:r>
              <a:t>運動按摩是給運動後恢復用的，不是減壓工具。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點身體圖上的部位或看右邊卡片。排名第一是頭與臉，第二是後頸，第三是肩膀，然後是手和腳。</a:t>
            </a:r>
          </a:p>
          <a:p>
            <a:r>
              <a:t>講 Packheiser 2024 的發現：頭臉部的觸摸效果大於軀幹。Meier 2020 的「迷走神經按摩」就是按頭頸。</a:t>
            </a:r>
          </a:p>
          <a:p>
            <a:r>
              <a:t>手部按摩在失智長者的研究顯示能降低躁動，是長照夥伴可以直接用的。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這一頁回答三個常見追問：按哪裡、怎麼碰、按多久幾次。</a:t>
            </a:r>
          </a:p>
          <a:p>
            <a:r>
              <a:t>重點一：研究沒有指定手法，按摩、輕撫、擁抱效果差不多，所以不必拘泥技巧。</a:t>
            </a:r>
          </a:p>
          <a:p>
            <a:r>
              <a:t>重點二：「被按」比「互相按」效果好，所以兩人一組要輪流，不要同時互按。</a:t>
            </a:r>
          </a:p>
          <a:p>
            <a:r>
              <a:t>重點三：次數比時間長重要，單次拉長反而沒有更好。請大家把右下角的建議劑量拍下來。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左圖是 Meier 2020「迷走神經按摩」的四個區域，右圖是統合分析點名的頭臉部入口。</a:t>
            </a:r>
          </a:p>
          <a:p>
            <a:r>
              <a:t>帶的時候請學員兩人一組，被按的人坐著、閉眼、頭微微前傾；按的人照 1 到 4 的順序做，各約兩到三分鐘。</a:t>
            </a:r>
          </a:p>
          <a:p>
            <a:r>
              <a:t>務必提醒：不壓前頸正面（喉嚨兩側有頸動脈竇），只按後側與側邊的肌肉。</a:t>
            </a:r>
          </a:p>
          <a:p>
            <a:r>
              <a:t>誠實說明：Meier 的中等力道頭頸組和輕柔肩膀組，HRV 上升幅度差不多（約 25%，休息組 13%），所以力道不必重，慢和規律才是重點，痛絕對不行。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四個規格。力道講 Diego 2004：中等力道心跳下降、腦波出現放鬆模式；輕壓反而更清醒。</a:t>
            </a:r>
          </a:p>
          <a:p>
            <a:r>
              <a:t>時間講 Meier 2020：十分鐘就夠。頻率講 Packheiser 2024：次數比時長重要。</a:t>
            </a:r>
          </a:p>
          <a:p>
            <a:r>
              <a:t>速度：慢。一個部位至少五秒一下。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全部坐著做。先把手搓熱。每站約兩分鐘，講師一邊示範一邊念提示語。</a:t>
            </a:r>
          </a:p>
          <a:p>
            <a:r>
              <a:t>力道以學員自己的「舒服的痠」為準，不比較。</a:t>
            </a:r>
          </a:p>
          <a:p>
            <a:r>
              <a:t>第五站可以兩人一組互相按手，長照夥伴回去可以直接用在服務對象身上。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五站做完後問全場：「還有哪裡緊？」把大家說的部位接到這四張圖。</a:t>
            </a:r>
          </a:p>
          <a:p>
            <a:r>
              <a:t>每個部位示範 20 秒，然後讓大家自己按 1 分鐘，講師走動看力道。</a:t>
            </a:r>
          </a:p>
          <a:p>
            <a:r>
              <a:t>提醒：都是「舒服的痠」，不是愈痛愈好；前頸、膝蓋後側、瘀青處不按。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先示範手肘外側：用對側拇指找骨突下方最痠的點，中等力道按住畫小圓 20 秒，再往手腕方向推前臂。</a:t>
            </a:r>
          </a:p>
          <a:p>
            <a:r>
              <a:t>手心側與手背側各做一次。每區 30 秒，一手共約 3 分鐘，換手。</a:t>
            </a:r>
          </a:p>
          <a:p>
            <a:r>
              <a:t>照顧者、常用手機與做家事的人，這一區通常最有感。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請大家坐穩，一腳翹到另一腿膝蓋上，小腿肚朝上。做不到翹腳的人，腳踩地、身體前傾也可以按。</a:t>
            </a:r>
          </a:p>
          <a:p>
            <a:r>
              <a:t>先用雙手拇指從腳踝往膝蓋推小腿肚中央，再換四指捏內外側，最後捏阿基里斯腱上方。</a:t>
            </a:r>
          </a:p>
          <a:p>
            <a:r>
              <a:t>強調：膝窩繞過去不壓；有靜脈曲張或小腿單側腫痛的人不按，請他改按手部。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臉部力道一律輕到中等，用指腹，不用指甲。眼窩周邊只按眼眶骨的邊緣，不壓眼球。</a:t>
            </a:r>
          </a:p>
          <a:p>
            <a:r>
              <a:t>下頜與脖子交界（G）在下巴角後下方，按的是肌肉，不要往前頸喉嚨方向壓。</a:t>
            </a:r>
          </a:p>
          <a:p>
            <a:r>
              <a:t>每點按壓或畫圓約 10 秒，整套約 3 分鐘，適合當收尾或睡前做。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先看地圖再發球。紅虛線是脊椎，整堂課都不壓；膝窩不直接壓，壓它上下方的肌肉。</a:t>
            </a:r>
          </a:p>
          <a:p>
            <a:r>
              <a:t>8 個位置分成靠牆版與坐姿版，接下來兩頁示範。長輩一律用坐姿版，站不穩的人不靠牆。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示範靠牆：背對牆站，膝蓋微彎，球夾在肩胛骨與脊椎之間，用腿的屈伸讓球上下移動。</a:t>
            </a:r>
          </a:p>
          <a:p>
            <a:r>
              <a:t>胸部前側要面向牆，球放鎖骨下方靠肩膀內側，身體慢慢靠上去，手臂可以慢慢上下擺動加強。</a:t>
            </a:r>
          </a:p>
          <a:p>
            <a:r>
              <a:t>站不穩、怕跌倒的人改坐姿版。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全部坐著做，這是長輩的主版本。</a:t>
            </a:r>
          </a:p>
          <a:p>
            <a:r>
              <a:t>臀部坐球最有感，請大家把重心慢慢移到球上，不要一下全壓。</a:t>
            </a:r>
          </a:p>
          <a:p>
            <a:r>
              <a:t>小腿後側：腳放在前面的椅子上或伸直放地上，球在小腿下，腿前後滑；膝窩繞過去。沒有第二張椅子時用腳底踩球代替。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請確實念完。長照機構同仁特別注意抗凝血藥物與骨質疏鬆。</a:t>
            </a:r>
          </a:p>
          <a:p>
            <a:r>
              <a:t>前頸不按，因為有頸動脈竇。腰椎正中不用滾筒。</a:t>
            </a:r>
          </a:p>
          <a:p>
            <a:r>
              <a:t>任何動作出現頭暈、刺痛、麻，立刻停。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轉場。音樂準備好：動態用熟悉快歌，靜態用慢歌。請大家站起來或坐直，脫掉外套。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Singh 2023 是目前最大的傘狀回顧，發表在英國運動醫學期刊。</a:t>
            </a:r>
          </a:p>
          <a:p>
            <a:r>
              <a:t>重點：所有類型的運動都有效、強度高一點效果更好、12 週內的短期計畫效果反而最明顯。</a:t>
            </a:r>
          </a:p>
          <a:p>
            <a:r>
              <a:t>對長輩的翻譯：不用跑馬拉松，今天這種伸展加上走路就算。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先讓大家猜，再公布。正確答案是「慢、配呼吸、持續做」。</a:t>
            </a:r>
          </a:p>
          <a:p>
            <a:r>
              <a:t>不要急著解釋，請先問：「選 A 的舉手？選 B 的？」再點答案。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結論：三種都有用，但角色不同。</a:t>
            </a:r>
          </a:p>
          <a:p>
            <a:r>
              <a:t>動態伸展適合開頭「把僵掉的身體叫醒」，靜態伸展配慢呼吸是真正啟動副交感的主角，音樂是加分。</a:t>
            </a:r>
          </a:p>
          <a:p>
            <a:r>
              <a:t>特別提醒：單次靜態伸展對心率變異的研究結果不一致，但「持續做幾週」的研究一致看到焦慮下降、血壓下降、HRV 上升。所以要講「持續」。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這一頁是操作規格，可以請學員拍下來。</a:t>
            </a:r>
          </a:p>
          <a:p>
            <a:r>
              <a:t>最重要的三條：不憋氣、不彈震、痠不痛。</a:t>
            </a:r>
          </a:p>
          <a:p>
            <a:r>
              <a:t>對長者：停留可以拉長到 30 到 60 秒，因為組織彈性較低、需要較長時間；所有動作都有坐姿版本。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站著或坐著都可以。每式做 8 到 10 下，節奏像走路一樣，不用快。</a:t>
            </a:r>
          </a:p>
          <a:p>
            <a:r>
              <a:t>講師示範時嘴巴要一直講提示語，讓長輩跟得上。</a:t>
            </a:r>
          </a:p>
          <a:p>
            <a:r>
              <a:t>可以放一首大家熟悉的、節奏約 90 到 100 拍的歌當背景，讓氣氛動起來。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這是今天的主菜。換成慢音樂，燈可以稍微調暗。</a:t>
            </a:r>
          </a:p>
          <a:p>
            <a:r>
              <a:t>每式停 30 到 60 秒，講師帶呼吸：「吸……吐……吐的時候再鬆一點點。」</a:t>
            </a:r>
          </a:p>
          <a:p>
            <a:r>
              <a:t>每式之間停三秒，請大家感覺一下剛剛被拉開的地方。這就是伸展加覺察。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全部坐著做。頸部四個方向各 2 回、每回停 15 秒；軀幹四個方向各 2 回。</a:t>
            </a:r>
          </a:p>
          <a:p>
            <a:r>
              <a:t>後仰一律小幅度、不憋氣，有頭暈病史的人後仰只做「看天花板」的程度。</a:t>
            </a:r>
          </a:p>
          <a:p>
            <a:r>
              <a:t>口令：動的時候吐氣，回來的時候吸氣。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四種道具版本任選一到兩種做，每種各停 30 到 60 秒、每腿 2 回。</a:t>
            </a:r>
          </a:p>
          <a:p>
            <a:r>
              <a:t>長輩優先椅子版與毛巾坐姿版；躺地版給年輕學員或在家做。</a:t>
            </a:r>
          </a:p>
          <a:p>
            <a:r>
              <a:t>提醒：背要直，從髖部前傾，不要彎腰駝背去碰腳。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胸部伸展對整天低頭含胸的人最有感，也是呼吸變深的關鍵。</a:t>
            </a:r>
          </a:p>
          <a:p>
            <a:r>
              <a:t>牆角版與門框版最容易做；肩膀有舊傷的人，手肘不要高過肩膀。</a:t>
            </a:r>
          </a:p>
          <a:p>
            <a:r>
              <a:t>每種停 30 秒、2 回，吸氣時胸口打開。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具體規格：動態伸展用 90 到 100 拍的熟悉歌曲；靜態伸展與按摩用 60 到 80 拍、沒有歌詞或大家很熟的慢歌。</a:t>
            </a:r>
          </a:p>
          <a:p>
            <a:r>
              <a:t>研究提示：由參與者自己選喜歡的音樂，效果不會比較差，長輩熟悉的台語老歌、鄧麗君都很適合。</a:t>
            </a:r>
          </a:p>
          <a:p>
            <a:r>
              <a:t>音量以「可以正常講話」為準。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這一頁給自己和助教看，課前把播放清單照段落排好。</a:t>
            </a:r>
          </a:p>
          <a:p>
            <a:r>
              <a:t>原則：有講解就不放；有動作就放；正念段全程安靜。音量以可以正常講話為準。</a:t>
            </a:r>
          </a:p>
          <a:p>
            <a:r>
              <a:t>每首歌約 4 分鐘，所以 12 分鐘的段落準備 3 首，6 分鐘準備 2 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轉場。身體已經鬆了，現在把注意力帶回來。音樂關掉，燈可以調暗一點。</a:t>
            </a:r>
          </a:p>
          <a:p>
            <a:r>
              <a:t>先問：「剛剛按摩的時候，有沒有哪一刻你什麼都沒想，只注意到手的感覺？」那一刻就是正念。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先問全場：「有人上過正念課或用過正念 App 嗎？」</a:t>
            </a:r>
          </a:p>
          <a:p>
            <a:r>
              <a:t>用三個要素講定義，再用「不是什麼」破除誤解：不是放空、不是正向思考、不是宗教。</a:t>
            </a:r>
          </a:p>
          <a:p>
            <a:r>
              <a:t>MBSR 介紹重點：它是一套 1979 年在醫院裡發展出來的標準課程，所以研究做得最多；但它的核心練習（身體掃描、覺察呼吸）今天就會做。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這是學員最關心的：我沒時間上八週課，怎麼辦？</a:t>
            </a:r>
          </a:p>
          <a:p>
            <a:r>
              <a:t>三個研究的訊息一致：時數不是關鍵，持續與日常化才是。</a:t>
            </a:r>
          </a:p>
          <a:p>
            <a:r>
              <a:t>右邊六個日常做法請現場挑一個，讓每個人說出「我要把它接在哪個既有習慣後面」，這叫習慣綁定，比立志更有效。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先問全場：「你覺得正念有效嗎？」舉手。</a:t>
            </a:r>
          </a:p>
          <a:p>
            <a:r>
              <a:t>再公布：有效，但是「中等效果」，不是神藥。效果量 0.3 到 0.5 的意思是：平均來說，有做的人比沒做的人好一截，但不是每個人都一樣。</a:t>
            </a:r>
          </a:p>
          <a:p>
            <a:r>
              <a:t>講 Goyal 2014 是 JAMA 內科的大型回顧，Khoury 2015 專看健康人。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Kabat-Zinn 的定義，但翻成白話：「有意地注意現在，不急著評價」。</a:t>
            </a:r>
          </a:p>
          <a:p>
            <a:r>
              <a:t>對比三種狀態：想事情、評價、覺察。可用例子：肩膀痠。想事情＝「等一下要去買菜」；評價＝「我怎麼又痠了，真糟」；覺察＝「右邊肩膀有一股緊緊的、熱熱的感覺」。</a:t>
            </a:r>
          </a:p>
          <a:p>
            <a:r>
              <a:t>心思遊蕩 47% 的數字很好記，哈佛用手機 App 追蹤兩千多人得到的。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這是學員很常問的問題。用五個可以自我檢核的訊號，改寫自正念量表（FFMQ）的五個面向：觀察、描述、有意識地行動、不評價、不反應。</a:t>
            </a:r>
          </a:p>
          <a:p>
            <a:r>
              <a:t>請大家現場勾：剛剛那一分鐘，你做到了幾個？三個以上就已經在覺察了。</a:t>
            </a:r>
          </a:p>
          <a:p>
            <a:r>
              <a:t>強調「發現自己跑掉了，就是覺察」，很多人以為分心代表失敗，其實發現分心的那一刻就是成功。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是正念減壓課程常用的口訣，好記、隨時可做。</a:t>
            </a:r>
          </a:p>
          <a:p>
            <a:r>
              <a:t>第三步「說出名字」有腦科學根據：Lieberman 2007 用 fMRI 發現，把情緒說出名字（「我現在很煩」），杏仁核的活動會下降。</a:t>
            </a:r>
          </a:p>
          <a:p>
            <a:r>
              <a:t>請全場一起做一次 STOP，大約 30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按下開始後，每十秒換一個部位。講師只要照螢幕的提示念，語速放慢。</a:t>
            </a:r>
          </a:p>
          <a:p>
            <a:r>
              <a:t>結束後問：「有人發現自己原本沒注意到的緊繃嗎？」通常會有人說下巴或肩膀。</a:t>
            </a:r>
          </a:p>
          <a:p>
            <a:r>
              <a:t>這就是覺察的直接體驗，不用解釋太多。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這一頁回答「覺察真的有用嗎」。四個證據：情緒標記、身體掃描、短期訓練也有效、長期大腦變化。</a:t>
            </a:r>
          </a:p>
          <a:p>
            <a:r>
              <a:t>講到 Balban 2023 時可預告：下一頁就做「循環嘆息」，每天五分鐘就有效。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這是伸展前的暖身呼吸，也是今天最容易帶回家的技巧。</a:t>
            </a:r>
          </a:p>
          <a:p>
            <a:r>
              <a:t>動作：鼻子吸一口到七分滿，再快速補吸一小口到全滿，然後用嘴巴慢慢吐到底。吐氣要比吸氣長。</a:t>
            </a:r>
          </a:p>
          <a:p>
            <a:r>
              <a:t>按開始，跟著圓球做五輪，大約一分鐘。長輩若頭暈就改成一般慢呼吸。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挑一首約 4 分鐘、大家會唱、節奏中等的歌（台語老歌、鄧麗君都適合）。</a:t>
            </a:r>
          </a:p>
          <a:p>
            <a:r>
              <a:t>講師跟著歌曲段落喊口令，時間只是參考，依實際歌曲調整。</a:t>
            </a:r>
          </a:p>
          <a:p>
            <a:r>
              <a:t>這是今天最快樂的五分鐘，讓大家唱出來、動起來，笑聲是最好的放鬆指標。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這一頁把三個答案串起來：正念、按摩、運動看起來不同，其實都在按同一顆「關機鍵」，也就是迷走神經和副交感系統。</a:t>
            </a:r>
          </a:p>
          <a:p>
            <a:r>
              <a:t>講 HRV 可以用「心跳的彈性」比喻：彈性好的心跳，代表身體有能力在緊張後快速回到平靜。</a:t>
            </a:r>
          </a:p>
          <a:p>
            <a:r>
              <a:t>這頁講完，大家會理解為什麼今天的伸展和按摩都要「慢」、要「配呼吸」。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學員會問：你都說中等，那什麼才是大的？這一頁直接回答。</a:t>
            </a:r>
          </a:p>
          <a:p>
            <a:r>
              <a:t>帶的時候先讓大家看「共同特徵」那一列：效果大的方法，不是更神奇，而是起點高、有人帶、身體直接參與。</a:t>
            </a:r>
          </a:p>
          <a:p>
            <a:r>
              <a:t>然後指出今天的課就是用這三個特徵設計的：慢呼吸是生理回饋的核心做法、動態伸展配音樂是跳舞的低門檻版、按摩是觸摸。</a:t>
            </a:r>
          </a:p>
          <a:p>
            <a:r>
              <a:t>跳舞那一項要誠實說：研究少、證據確定性低。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這張榜單是依各統合分析的效果量由大到小整理，不是單一研究的排名，請誠實告訴學員：不同研究的族群不同，排名只是參考。</a:t>
            </a:r>
          </a:p>
          <a:p>
            <a:r>
              <a:t>請先讓大家猜第一名是什麼，再按下「揭曉」讓長條動起來。</a:t>
            </a:r>
          </a:p>
          <a:p>
            <a:r>
              <a:t>標了「今天會做」的，就是這堂課的內容。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避免大家回去只做第一名。</a:t>
            </a:r>
          </a:p>
          <a:p>
            <a:r>
              <a:t>三個提醒：效果量是平均值；次數比時間長重要（Packheiser 2024）；最有效的方法永遠是你會持續做的那一個。</a:t>
            </a:r>
          </a:p>
          <a:p>
            <a:r>
              <a:t>可以問：「哪一個你覺得自己做得到、而且會做？」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請大家再閉眼三秒，感覺肩膀、下巴、眉頭，選一個數字。</a:t>
            </a:r>
          </a:p>
          <a:p>
            <a:r>
              <a:t>點完會自動和一開始比較。請幾位分享差了幾分、哪裡最有感。</a:t>
            </a:r>
          </a:p>
          <a:p>
            <a:r>
              <a:t>如果有人沒變或更緊，也很正常，請肯定他的誠實：這也是覺察。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把今天的內容濃縮成每天十分鐘的菜單，請學員拍照。</a:t>
            </a:r>
          </a:p>
          <a:p>
            <a:r>
              <a:t>強調：做幾次比做多久重要；哪一個做得到就先做哪一個。</a:t>
            </a:r>
          </a:p>
          <a:p>
            <a:r>
              <a:t>下週同一時間第二堂：身心修復。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這幾頁給想深入的老師和學生看，不用逐條講。可以說：「今天每一個數字，都查得到。」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同上。若有學員想要文獻清單，可將網址直接分享。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同上。若有學員想要文獻清單，可將網址直接分享。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不用講。圖片皆來自 Pexels，授權可免費用於教學，不需署名。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7.jp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18.jpg"/><Relationship Id="rId7" Type="http://schemas.openxmlformats.org/officeDocument/2006/relationships/image" Target="../media/image23.jpg"/><Relationship Id="rId8" Type="http://schemas.openxmlformats.org/officeDocument/2006/relationships/image" Target="../media/image24.jpg"/><Relationship Id="rId9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jpg"/><Relationship Id="rId4" Type="http://schemas.openxmlformats.org/officeDocument/2006/relationships/image" Target="../media/image21.jp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503920" y="3291840"/>
            <a:ext cx="5486400" cy="5486400"/>
          </a:xfrm>
          <a:prstGeom prst="ellipse">
            <a:avLst/>
          </a:prstGeom>
          <a:solidFill>
            <a:srgbClr val="E6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583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耕莘健康管理專科學校｜大學社會責任計畫（USR）｜第一堂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58368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覺察壓力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卸下負擔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658368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270"/>
              </a:spcAft>
            </a:pPr>
            <a:r>
              <a:rPr sz="18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動態伸展與按摩放鬆的實證與實作</a:t>
            </a:r>
          </a:p>
          <a:p>
            <a:pPr algn="l">
              <a:lnSpc>
                <a:spcPct val="115000"/>
              </a:lnSpc>
              <a:spcAft>
                <a:spcPts val="270"/>
              </a:spcAft>
            </a:pPr>
            <a:r>
              <a:rPr sz="18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掌握真正有研究支持的身心減壓技巧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912620" cy="411480"/>
          </a:xfrm>
          <a:prstGeom prst="roundRect">
            <a:avLst>
              <a:gd name="adj" fmla="val 4888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9126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🏫 耕莘專校宜蘭校區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1300" y="5120640"/>
            <a:ext cx="2979420" cy="411480"/>
          </a:xfrm>
          <a:prstGeom prst="roundRect">
            <a:avLst>
              <a:gd name="adj" fmla="val 4888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781300" y="5120640"/>
            <a:ext cx="29794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👥 老師・學生・長照夥伴・社區長者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5120640"/>
            <a:ext cx="1150620" cy="411480"/>
          </a:xfrm>
          <a:prstGeom prst="roundRect">
            <a:avLst>
              <a:gd name="adj" fmla="val 4888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897880" y="5120640"/>
            <a:ext cx="11506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💜 愛迪樂</a:t>
            </a:r>
          </a:p>
        </p:txBody>
      </p:sp>
      <p:pic>
        <p:nvPicPr>
          <p:cNvPr id="13" name="Picture 12" descr="cover_happy.jpg"/>
          <p:cNvPicPr>
            <a:picLocks noChangeAspect="1"/>
          </p:cNvPicPr>
          <p:nvPr/>
        </p:nvPicPr>
        <p:blipFill>
          <a:blip r:embed="rId2"/>
          <a:srcRect l="22966" r="22966"/>
          <a:stretch>
            <a:fillRect/>
          </a:stretch>
        </p:blipFill>
        <p:spPr>
          <a:xfrm>
            <a:off x="7589520" y="914400"/>
            <a:ext cx="39319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今天的路線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先用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身體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感受，再用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證據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說明為什麼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639656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85216" y="1545124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17320"/>
            <a:ext cx="10564063" cy="639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先動手：按摩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兩人一組互相按，再看研究為什麼這樣說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30128"/>
            <a:ext cx="11277295" cy="639656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85216" y="2257932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30128"/>
            <a:ext cx="10564063" cy="639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還有哪裡可以按？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手指頭就夠；按摩球靠牆、靠椅子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42937"/>
            <a:ext cx="11277295" cy="639656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85216" y="2970741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842937"/>
            <a:ext cx="10564063" cy="639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伸展，配音樂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動態叫醒身體，靜態配吐氣放鬆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55745"/>
            <a:ext cx="11277295" cy="639656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85216" y="3683550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555745"/>
            <a:ext cx="10564063" cy="639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正念，把注意力帶回來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什麼是正念、覺察四步、六十秒掃描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68554"/>
            <a:ext cx="11277295" cy="639656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85216" y="4396359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268554"/>
            <a:ext cx="10564063" cy="639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一首歌收尾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用音樂把伸展串起來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81363"/>
            <a:ext cx="11277295" cy="639656"/>
          </a:xfrm>
          <a:prstGeom prst="roundRect">
            <a:avLst>
              <a:gd name="adj" fmla="val 857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85216" y="5109167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981363"/>
            <a:ext cx="10564063" cy="63965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帶回家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每天十分鐘的放鬆菜單，附音樂時間表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03900"/>
            <a:ext cx="11277295" cy="779780"/>
          </a:xfrm>
          <a:prstGeom prst="roundRect">
            <a:avLst>
              <a:gd name="adj" fmla="val 7035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803900"/>
            <a:ext cx="11002975" cy="7797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今天的約定：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所有動作都可以坐著做。覺得痛、頭暈、喘不過氣，就停下來，舉手讓我知道。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開始之前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現在，你的身體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緊繃幾分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閉上眼睛三秒，感覺一下肩膀、下巴、眉頭。0 分是完全放鬆，10 分是繃到最緊。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7295" cy="2567940"/>
          </a:xfrm>
          <a:prstGeom prst="roundRect">
            <a:avLst>
              <a:gd name="adj" fmla="val 2136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728655" cy="25679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🎯 </a:t>
            </a: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互動：請每個人在心裡選一個 0 到 10 的數字（0 完全放鬆，10 緊到不行），講師點名幾位說出來。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625340"/>
            <a:ext cx="11277295" cy="1958340"/>
          </a:xfrm>
          <a:prstGeom prst="roundRect">
            <a:avLst>
              <a:gd name="adj" fmla="val 2801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4625340"/>
            <a:ext cx="11002975" cy="19583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這就是覺察的第一步：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不用改變它，只要先注意到它。很多人是這一刻才發現，自己的肩膀一直聳著。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壓力的生理學，白話版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壓力不是敵人，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一直不關機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才是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547207" cy="4892040"/>
          </a:xfrm>
          <a:prstGeom prst="roundRect">
            <a:avLst>
              <a:gd name="adj" fmla="val 1121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6432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⚡身體的「備戰模式」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5364327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大腦覺得有威脅，交感神經與壓力荷爾蒙（皮質醇、腎上腺素）就啟動：心跳變快、肌肉收緊、呼吸變淺。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短期這是保護。問題是現代的威脅不會跑掉：帳單、照顧、工作、家人。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今天的目標：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學會按下「關機鍵」，也就是啟動副交感神經（迷走神經）。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417320"/>
            <a:ext cx="5547207" cy="4892040"/>
          </a:xfrm>
          <a:prstGeom prst="roundRect">
            <a:avLst>
              <a:gd name="adj" fmla="val 1121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78727" y="1508760"/>
            <a:ext cx="536432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🔍身體常見的壓力訊號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92808"/>
            <a:ext cx="5364327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肩頸僵硬、下巴咬緊、眉頭常皺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呼吸淺、常嘆氣、胸口悶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睡不好、淺眠、早醒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腸胃不舒服、沒胃口或暴食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容易煩躁、注意力不集中、健忘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來源：McEwen BS. (2007) Physiology of stress and allostatic load. Physiol Rev. 綜合整理。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neck_massage.jpg"/>
          <p:cNvPicPr>
            <a:picLocks noChangeAspect="1"/>
          </p:cNvPicPr>
          <p:nvPr/>
        </p:nvPicPr>
        <p:blipFill>
          <a:blip r:embed="rId2"/>
          <a:srcRect t="9237" b="9237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第一部分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4864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310"/>
              </a:spcAft>
            </a:pPr>
            <a:r>
              <a:rPr sz="66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566928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2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按摩：先用手，把身體叫回來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5486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D9CFEA"/>
                </a:solidFill>
                <a:latin typeface="Microsoft JhengHei"/>
                <a:ea typeface="Microsoft JhengHei"/>
                <a:cs typeface="Microsoft JhengHei"/>
              </a:rPr>
              <a:t>不先講理論。先感受，再看研究為什麼這樣說。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大哉問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按摩真的有效嗎？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108960" cy="4892040"/>
          </a:xfrm>
          <a:prstGeom prst="roundRect">
            <a:avLst>
              <a:gd name="adj" fmla="val 1764"/>
            </a:avLst>
          </a:prstGeom>
          <a:solidFill>
            <a:srgbClr val="2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260"/>
              </a:spcAft>
            </a:pPr>
            <a:r>
              <a:rPr sz="36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743200" cy="16230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20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效果中到大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50384"/>
            <a:ext cx="2743200" cy="176113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DCD3EA"/>
                </a:solidFill>
                <a:latin typeface="Microsoft JhengHei"/>
                <a:ea typeface="Microsoft JhengHei"/>
                <a:cs typeface="Microsoft JhengHei"/>
              </a:rPr>
              <a:t>觸摸與按摩對焦慮、憂鬱、疼痛、皮質醇都有中等到偏大的改善。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417320"/>
            <a:ext cx="7985455" cy="1557528"/>
          </a:xfrm>
          <a:prstGeom prst="roundRect">
            <a:avLst>
              <a:gd name="adj" fmla="val 352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840479" y="1508760"/>
            <a:ext cx="780257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Packheiser 等 2024・Nature Human Behaviour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1892808"/>
            <a:ext cx="7802575" cy="10363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212 篇研究、12,966 人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。觸摸介入降低皮質醇（效果量 0.78）、疼痛（0.69）、憂鬱（0.59）、狀態焦慮（0.64）。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頭臉部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的觸摸比軀幹更有幫助；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次數多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比每次時間長更重要。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084575"/>
            <a:ext cx="7985455" cy="1557528"/>
          </a:xfrm>
          <a:prstGeom prst="roundRect">
            <a:avLst>
              <a:gd name="adj" fmla="val 352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40479" y="3176016"/>
            <a:ext cx="780257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Moyer 等 2004・Psychological Bulletin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3560064"/>
            <a:ext cx="7802575" cy="1036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37 個隨機研究。單次按摩就能降低狀態焦慮、血壓、心跳；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多次療程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對特質焦慮與憂鬱的改善幅度，接近心理治療。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751832"/>
            <a:ext cx="7985455" cy="1557528"/>
          </a:xfrm>
          <a:prstGeom prst="roundRect">
            <a:avLst>
              <a:gd name="adj" fmla="val 3522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840479" y="4843271"/>
            <a:ext cx="7802575" cy="1420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Meier 等 2020：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頭頸部中等力道按摩十分鐘，副交感指標（HF-HRV）明顯上升。連單純躺著休息十分鐘，主觀壓力也會下降。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來源：Packheiser J, et al. Nat Hum Behav 2024;8:1088-1107. Moyer CA, et al. Psychol Bull 2004;130(1):3-18. Meier M, et al. Sci Rep 2020;10:14774.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先猜猜看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要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放鬆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，哪種力道的按摩最有效？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547207" cy="197231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94360" y="2220595"/>
            <a:ext cx="365760" cy="365760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17320"/>
            <a:ext cx="4861407" cy="197231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輕輕撫摸，像羽毛一樣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417320"/>
            <a:ext cx="5547207" cy="197231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24447" y="2220595"/>
            <a:ext cx="365760" cy="365760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647" y="1417320"/>
            <a:ext cx="4861407" cy="197231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中等力道，壓下去皮膚會凹、覺得舒服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26790"/>
            <a:ext cx="5547207" cy="197231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94360" y="4330065"/>
            <a:ext cx="365760" cy="365760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26790"/>
            <a:ext cx="4861407" cy="197231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愈痛愈好，痛才有鬆開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3526790"/>
            <a:ext cx="5547207" cy="197231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24447" y="4330065"/>
            <a:ext cx="365760" cy="365760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647" y="3526790"/>
            <a:ext cx="4861407" cy="197231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力道不重要，時間長才重要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81980"/>
            <a:ext cx="11277295" cy="901700"/>
          </a:xfrm>
          <a:prstGeom prst="roundRect">
            <a:avLst>
              <a:gd name="adj" fmla="val 6084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5681980"/>
            <a:ext cx="11002975" cy="9017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提示：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有一個研究把人分成輕壓、中壓兩組，測腦波和心跳。結果其中一組反而變得更清醒。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證據怎麼說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減壓最有證據的，是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中等力道的放鬆式按摩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729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032"/>
                <a:gridCol w="3499850"/>
                <a:gridCol w="4734096"/>
                <a:gridCol w="1465315"/>
              </a:tblGrid>
              <a:tr h="9784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類型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它擅長什麼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減壓證據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今天怎麼用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</a:tr>
              <a:tr h="9784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放鬆式按摩（瑞典式、頭頸肩）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慢速、中等力道、有節奏地按壓與推撫。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最強。單次就降狀態焦慮、血壓、心跳；多次療程效果接近心理治療（Moyer 2004）。頭頸部十分鐘即提升副交感（Meier 2020）。頭臉部效果優於軀幹（Packheiser 2024）。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主角自我按摩五站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9784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筋膜滾筒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減少運動後痠痛、短期增加柔軟度（Wiewelhove 2019 統合分析）。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不一致。多個研究發現單次滾筒對心率變異沒有系統性改變；對痠痛有效。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配角有滾筒者用在大腿、小腿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按摩球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方便、可坐著做；腳底滾球能增加大腿後側柔軟度（Grieve 2015）。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較少。多為柔軟度與疼痛研究，減壓證據薄弱，但它是「頭頸肩以外」最容易自己做的工具。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配角腳底、臀部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運動按摩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運動後恢復、延遲性痠痛（Davis 2020 統合分析）。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目標不同。設計給運動員恢復，不是壓力介入。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今天不用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來源：Moyer 2004；Meier 2020；Packheiser 2024；Wiewelhove T, et al. Front Physiol 2019;10:376；Grieve R, et al. J Bodyw Mov Ther 2015；Davis HL, et al. BMJ Open Sport Exerc Med 2020;6:e000614；Wilkerson 2021、Kopec 2020 滾筒 HRV 研究。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按哪裡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對減壓最有幫助的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五個部位</a:t>
            </a:r>
          </a:p>
        </p:txBody>
      </p:sp>
      <p:pic>
        <p:nvPicPr>
          <p:cNvPr id="5" name="Picture 4" descr="sv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882" y="1417320"/>
            <a:ext cx="2308206" cy="3590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9651" y="1417320"/>
            <a:ext cx="3030982" cy="3590544"/>
          </a:xfrm>
          <a:prstGeom prst="roundRect">
            <a:avLst>
              <a:gd name="adj" fmla="val 1810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581091" y="1508760"/>
            <a:ext cx="2848101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① 頭皮與臉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1091" y="1892808"/>
            <a:ext cx="2848101" cy="3069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統合分析：頭部觸摸比手臂多 0.78、比軀幹多 0.84 的效益；作者點名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臉與頭皮按摩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。頭皮、太陽穴、眉骨、下巴、耳後都是入口。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03513" y="1417320"/>
            <a:ext cx="3030982" cy="3590544"/>
          </a:xfrm>
          <a:prstGeom prst="roundRect">
            <a:avLst>
              <a:gd name="adj" fmla="val 1810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94953" y="1508760"/>
            <a:ext cx="2848101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② 後頸（枕骨下）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4953" y="1892808"/>
            <a:ext cx="2848101" cy="3069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Meier 2020 的「迷走神經按摩」就是按頭與頸：中等力道，十分鐘，副交感指標上升。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90744"/>
            <a:ext cx="3637178" cy="1118616"/>
          </a:xfrm>
          <a:prstGeom prst="roundRect">
            <a:avLst>
              <a:gd name="adj" fmla="val 490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5282184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③ 肩膀（上斜方肌）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6232"/>
            <a:ext cx="3454298" cy="597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壓力最先住進來的地方。肌肉放鬆的訊號回傳大腦，是「身體先鬆、情緒才鬆」的關鍵。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7258" y="5190744"/>
            <a:ext cx="3637178" cy="1118616"/>
          </a:xfrm>
          <a:prstGeom prst="roundRect">
            <a:avLst>
              <a:gd name="adj" fmla="val 490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68698" y="5282184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④ 手掌與手指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5666232"/>
            <a:ext cx="3454298" cy="597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手部按摩在住宿型長者與失智者的研究中可降低焦慮與躁動，長照夥伴五分鐘就能做。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5190744"/>
            <a:ext cx="3637178" cy="1118616"/>
          </a:xfrm>
          <a:prstGeom prst="roundRect">
            <a:avLst>
              <a:gd name="adj" fmla="val 490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88756" y="5282184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⑤ 腳底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756" y="5666232"/>
            <a:ext cx="3454298" cy="5974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腳底按摩與反射區研究對焦慮有中等品質的證據；用按摩球坐著滾，是長者最安全的自助做法。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來源：Packheiser 2024；Meier 2020；Snyder M, et al. (1995) Hand massage and agitation in dementia；Remington R. Nurs Res 2002；足部反射區焦慮相關系統性回顧綜合整理。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研究細節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910"/>
              </a:spcAft>
            </a:pPr>
            <a:r>
              <a:rPr sz="26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頭臉部觸摸：</a:t>
            </a:r>
            <a:r>
              <a:rPr sz="26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按哪裡、怎麼碰、幾次</a:t>
            </a:r>
            <a:r>
              <a:rPr sz="26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，研究具體說了什麼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82163" cy="3830320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📍按哪裡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2499283" cy="33091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頭部觸摸的效益比手臂多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0.78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、比軀幹多 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0.84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；生理指標上頭部比軀幹多 0.96。作者結論：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臉與頭皮按摩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特別值得。研究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沒有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指定單一手法，也沒有特定輔具。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417320"/>
            <a:ext cx="2682163" cy="3830320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13683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✋怎麼碰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892808"/>
            <a:ext cx="2499283" cy="33091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按摩、輕撫、擁抱等類型之間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沒有顯著差異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單向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（一方被按）比互相按的心理效益多 0.46。皮膚直接接觸有略好的趨勢，但未達顯著，隔著衣服也可以。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417320"/>
            <a:ext cx="2682163" cy="383032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78727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👥誰來按、用什麼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892808"/>
            <a:ext cx="2499283" cy="33091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熟人與專業人員效果一樣（0.51 對 0.50）。用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物件或機器人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代替人手：生理效益相近，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心理效益較低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（0.34 對 0.58）。所以按摩球、滾筒放在腳底、臀部當配角，頭頸留給人手。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331" y="1417320"/>
            <a:ext cx="2682163" cy="383032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3771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🔁多久、幾次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1" y="1892808"/>
            <a:ext cx="2499283" cy="33091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研究中位數：每次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20 分鐘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、共 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4 次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、間隔 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2.3 天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。次數越多，特質焦慮、憂鬱、疼痛改善越多；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單次拉長沒有更好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，皮質醇與心跳的改善甚至略差，可能是身體習慣了。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30520"/>
            <a:ext cx="11277295" cy="878840"/>
          </a:xfrm>
          <a:prstGeom prst="roundRect">
            <a:avLst>
              <a:gd name="adj" fmla="val 6242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5430520"/>
            <a:ext cx="11002975" cy="878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建議劑量：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每次 10 到 20 分鐘、每 2 到 3 天一次、至少連續 4 次；自我按摩每天 5 到 10 分鐘。兩人一組時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輪流被按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，不要同時互按。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來源：Packheiser J, et al. Nat Hum Behav 2024;8:1088-1107（成人 Hedges' g；身體部位、觸摸類型、方向、熟悉度、次數與時長的調節分析）。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視覺化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頭頸按摩地圖：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十分鐘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照這四區按</a:t>
            </a:r>
          </a:p>
        </p:txBody>
      </p:sp>
      <p:pic>
        <p:nvPicPr>
          <p:cNvPr id="5" name="Picture 4" descr="sv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85" y="1417320"/>
            <a:ext cx="2734407" cy="3949700"/>
          </a:xfrm>
          <a:prstGeom prst="rect">
            <a:avLst/>
          </a:prstGeom>
        </p:spPr>
      </p:pic>
      <p:pic>
        <p:nvPicPr>
          <p:cNvPr id="6" name="Picture 5" descr="sv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643" y="1417320"/>
            <a:ext cx="2734407" cy="39497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7316" y="1417320"/>
            <a:ext cx="3637178" cy="932561"/>
          </a:xfrm>
          <a:prstGeom prst="roundRect">
            <a:avLst>
              <a:gd name="adj" fmla="val 5883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5332" y="1691576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9108" y="1417320"/>
            <a:ext cx="2923946" cy="93256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枕骨下推撫（約 3 分鐘）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：四指放在髮際線下緣的凹處，從脊椎中線往兩側</a:t>
            </a:r>
            <a:r>
              <a:rPr sz="11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耳後方向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慢慢推，來回。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2423033"/>
            <a:ext cx="3637178" cy="932561"/>
          </a:xfrm>
          <a:prstGeom prst="roundRect">
            <a:avLst>
              <a:gd name="adj" fmla="val 5883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225332" y="2697289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9108" y="2423033"/>
            <a:ext cx="2923946" cy="93256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頸側抓捏（約 2 分鐘）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：拇指與四指在頸側、</a:t>
            </a:r>
            <a:r>
              <a:rPr sz="11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斜方肌與胸鎖乳突肌之間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的肌肉帶輕抓輕放。這是迷走神經經過的位置；</a:t>
            </a:r>
            <a:r>
              <a:rPr sz="11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不壓前頸正面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3428746"/>
            <a:ext cx="3637178" cy="932561"/>
          </a:xfrm>
          <a:prstGeom prst="roundRect">
            <a:avLst>
              <a:gd name="adj" fmla="val 5883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225332" y="3703002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9108" y="3428746"/>
            <a:ext cx="2923946" cy="93256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上斜方肌推撫與扭捏（約 3 分鐘）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：從頸根沿肩線往外推，再像擰毛巾一樣輕輕扭。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4434459"/>
            <a:ext cx="3637178" cy="932561"/>
          </a:xfrm>
          <a:prstGeom prst="roundRect">
            <a:avLst>
              <a:gd name="adj" fmla="val 5883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25332" y="4708715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9108" y="4434459"/>
            <a:ext cx="2923946" cy="93256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肩膀溫手畫圓（約 2 分鐘）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：雙手搓熱，整個手掌在肩上畫大圓輕撫，收尾。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49900"/>
            <a:ext cx="11277295" cy="759460"/>
          </a:xfrm>
          <a:prstGeom prst="roundRect">
            <a:avLst>
              <a:gd name="adj" fmla="val 7224"/>
            </a:avLst>
          </a:prstGeom>
          <a:solidFill>
            <a:srgbClr val="F3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" y="5549900"/>
            <a:ext cx="11002975" cy="7594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力道怎麼拿捏：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Meier 2020 的中等力道頭頸組與輕柔肩膀組，副交感指標上升幅度相近（約 25%，休息組 13%）。所以不必重，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慢、規律、對方覺得舒服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才是重點；痛絕對不行。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來源：Meier M, et al. Sci Rep 2020;10:14774（迷走神經按摩：斜方肌推撫與扭捏、斜方肌與胸鎖乳突肌之間抓握、枕骨下由脊椎往耳後推撫；10 分鐘、坐姿）。頭臉部入口依 Packheiser 2024 的結論整理。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操作規格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怎麼按：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中等力道、慢速、十分鐘、常常做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82163" cy="3806698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✋力道：中等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2499283" cy="328549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壓下去皮膚會凹、覺得「舒服的痠」，約 10 分痛裡的 4 到 6 分。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研究：中等力道心跳下降、腦波出現放鬆型態；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輕壓反而讓人更清醒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417320"/>
            <a:ext cx="2682163" cy="3806698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13683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🐢速度：慢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892808"/>
            <a:ext cx="2499283" cy="328549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每一下至少 3 到 5 秒。慢，身體才會判定「安全」。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快速、用力的搓揉比較像在喚醒，不是放鬆。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417320"/>
            <a:ext cx="2682163" cy="3806698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78727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⏱️時間：10 到 20 分鐘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892808"/>
            <a:ext cx="2499283" cy="328549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頭頸部十分鐘，副交感指標就明顯上升。研究中位數是每次 20 分鐘。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再拉長沒有更好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，皮質醇與心跳的改善甚至略差。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331" y="1417320"/>
            <a:ext cx="2682163" cy="3806698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3771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📅頻率：每 2 到 3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1" y="1892808"/>
            <a:ext cx="2499283" cy="328549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研究中位數：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4 次、間隔 2.3 天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。次數越多，特質焦慮、憂鬱、疼痛改善越多。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自我按摩可以每天 5 到 10 分鐘。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06898"/>
            <a:ext cx="11277295" cy="902462"/>
          </a:xfrm>
          <a:prstGeom prst="roundRect">
            <a:avLst>
              <a:gd name="adj" fmla="val 6079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5406898"/>
            <a:ext cx="11002975" cy="90246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自己按也算：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觸摸研究發現，由專業人員或熟人、隔著衣服或直接接觸，效果沒有顯著差異。所以今天教的自我按摩，是真的有用的。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來源：Diego MA, Field T, et al. Int J Neurosci 2004;114(1):31-44. Meier M, et al. Sci Rep 2020. Packheiser J, et al. Nat Hum Behav 2024.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① 自我按摩　｜　🎵 🎵 慢歌 60 到 70 拍・約 12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自我按摩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五站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，每站約兩分鐘 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145731" cy="2967228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66928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1597091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1頭皮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1962851" cy="24643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十指指腹像洗頭，從前額往後、往兩側，慢慢畫圓。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「像在幫自己洗頭。」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頭部觸摸效益最高。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0091" y="1417320"/>
            <a:ext cx="2145731" cy="2967228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2849819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5579" y="1490472"/>
            <a:ext cx="1597091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2太陽穴、眉骨、下巴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1531" y="1874519"/>
            <a:ext cx="1962851" cy="24643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中指指腹在太陽穴慢慢畫圓；拇指沿眉骨從內往外推；指腹鬆開咬肌。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「下巴放鬆，牙齒分開。」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緊張最常咬在下巴。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2982" y="1417320"/>
            <a:ext cx="2145731" cy="2967228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132710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8470" y="1490472"/>
            <a:ext cx="1597091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3後頸枕骨下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4422" y="1874519"/>
            <a:ext cx="1962851" cy="24643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雙手拇指或四指放在後腦與頸交界的凹處，中等力道按壓、小畫圓，頭微微後靠。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「頭的重量交給手。」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Meier 2020 迷走神經區。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5873" y="1417320"/>
            <a:ext cx="2145731" cy="2967228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415601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361" y="1490472"/>
            <a:ext cx="1597091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4肩膀上斜方肌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313" y="1874519"/>
            <a:ext cx="1962851" cy="24643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右手抓左肩的肌肉，像捏麵糰一樣抓、放；再換邊。手肘可靠在桌上省力。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「抓住，吐氣，放開。」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配合吐氣放開最有感。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88764" y="1417320"/>
            <a:ext cx="2145731" cy="2967228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698492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64252" y="1490472"/>
            <a:ext cx="1597091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5手掌與手指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0204" y="1874519"/>
            <a:ext cx="1962851" cy="24643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拇指在手掌心慢慢畫圓；每根手指從根部往指尖捏推；最後搓熱雙手蓋在眼睛上。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「兩人一組也可以。」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長照現場最實用。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67428"/>
            <a:ext cx="5547207" cy="1741932"/>
          </a:xfrm>
          <a:prstGeom prst="roundRect">
            <a:avLst>
              <a:gd name="adj" fmla="val 3149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" y="4658868"/>
            <a:ext cx="5364327" cy="16047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按摩球加碼（有球的人）：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坐著把球放腳底，從腳跟慢慢滾到腳趾，一腳一分鐘；或放在椅子上坐在臀部肌肉下，小幅度移動。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4567428"/>
            <a:ext cx="5547207" cy="1741932"/>
          </a:xfrm>
          <a:prstGeom prst="roundRect">
            <a:avLst>
              <a:gd name="adj" fmla="val 3149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78727" y="4658868"/>
            <a:ext cx="5364327" cy="16047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穴位加分（輔助，不是主角）：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神門（手腕橫紋小指側）、內關（腕橫紋上三指）、合谷（虎口）、太衝（腳背第一二趾間）。穴位按壓對焦慮有中等證據，每點按 1 分鐘。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來源：Au DWH, et al. Effects of acupressure on anxiety: a systematic review and meta-analysis. Acupunct Med 2015;33(5):353-359。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② 延伸　｜　🎵 🎵 慢歌 60 到 75 拍・約 6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還有哪裡可以按？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用手指頭就夠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82163" cy="421893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lf_neck.jpg"/>
          <p:cNvPicPr>
            <a:picLocks noChangeAspect="1"/>
          </p:cNvPicPr>
          <p:nvPr/>
        </p:nvPicPr>
        <p:blipFill>
          <a:blip r:embed="rId2"/>
          <a:srcRect l="23902" r="23902"/>
          <a:stretch>
            <a:fillRect/>
          </a:stretch>
        </p:blipFill>
        <p:spPr>
          <a:xfrm>
            <a:off x="530352" y="1490472"/>
            <a:ext cx="2535859" cy="32374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4623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後頸與肩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對側手四指抓後頸肌肉，由上往下捏到肩膀，一邊 1 分鐘。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417320"/>
            <a:ext cx="2682163" cy="421893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head_massage.jpg"/>
          <p:cNvPicPr>
            <a:picLocks noChangeAspect="1"/>
          </p:cNvPicPr>
          <p:nvPr/>
        </p:nvPicPr>
        <p:blipFill>
          <a:blip r:embed="rId3"/>
          <a:srcRect l="23872" r="23872"/>
          <a:stretch>
            <a:fillRect/>
          </a:stretch>
        </p:blipFill>
        <p:spPr>
          <a:xfrm>
            <a:off x="3395395" y="1490472"/>
            <a:ext cx="2535859" cy="32374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13683" y="474623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頭皮、太陽穴、耳朵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十指像洗頭畫圓；拇指食指捏耳廓，由上捏到耳垂。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417320"/>
            <a:ext cx="2682163" cy="421893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hand_massage.jpg"/>
          <p:cNvPicPr>
            <a:picLocks noChangeAspect="1"/>
          </p:cNvPicPr>
          <p:nvPr/>
        </p:nvPicPr>
        <p:blipFill>
          <a:blip r:embed="rId4"/>
          <a:srcRect t="7444" b="7444"/>
          <a:stretch>
            <a:fillRect/>
          </a:stretch>
        </p:blipFill>
        <p:spPr>
          <a:xfrm>
            <a:off x="6260439" y="1490472"/>
            <a:ext cx="2535859" cy="32374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8727" y="474623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手掌、虎口、前臂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拇指壓掌心畫圓；捏虎口；前臂從手腕推到手肘。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331" y="1417320"/>
            <a:ext cx="2682163" cy="421893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oot_self.jpg"/>
          <p:cNvPicPr>
            <a:picLocks noChangeAspect="1"/>
          </p:cNvPicPr>
          <p:nvPr/>
        </p:nvPicPr>
        <p:blipFill>
          <a:blip r:embed="rId5"/>
          <a:srcRect l="23902" r="23902"/>
          <a:stretch>
            <a:fillRect/>
          </a:stretch>
        </p:blipFill>
        <p:spPr>
          <a:xfrm>
            <a:off x="9125483" y="1490472"/>
            <a:ext cx="2535859" cy="32374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3771" y="474623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腳底、小腿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拇指從腳跟推到腳趾；雙手抓小腿肚，由下往上捏。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19130"/>
            <a:ext cx="11277295" cy="764549"/>
          </a:xfrm>
          <a:prstGeom prst="roundRect">
            <a:avLst>
              <a:gd name="adj" fmla="val 7175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5819130"/>
            <a:ext cx="11002975" cy="76454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帶法：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問全場「還有哪裡緊？」把答案接到這四張圖。全部用「舒服的痠」，每處約 1 分鐘；前頸、膝蓋後側、瘀青處不按。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② 徒手細節　｜　🎵 🎵 慢歌 60 到 70 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徒手按摩：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手肘、前臂、手掌</a:t>
            </a:r>
          </a:p>
        </p:txBody>
      </p:sp>
      <p:pic>
        <p:nvPicPr>
          <p:cNvPr id="5" name="Picture 4" descr="sv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562"/>
            <a:ext cx="4823658" cy="22395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63738" y="1417320"/>
            <a:ext cx="6270756" cy="919886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591754" y="1685239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5530" y="1417320"/>
            <a:ext cx="5557524" cy="91988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手肘外側（1）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：對側拇指找骨突下方最痠的點，按住畫小圓 20 秒，再沿前臂往手腕推 5 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3738" y="2410358"/>
            <a:ext cx="6270756" cy="919886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591754" y="2678277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5530" y="2410358"/>
            <a:ext cx="5557524" cy="91988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手肘內側（2）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：同樣做法，力道輕一點，內側較敏感。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3738" y="3403396"/>
            <a:ext cx="6270756" cy="919886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591754" y="3671316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5530" y="3403396"/>
            <a:ext cx="5557524" cy="91988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前臂兩面（3、4）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：手背側用四指、手心側用拇指，從手肘推到手腕，各 5 次；找到緊點停 10 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3738" y="4396435"/>
            <a:ext cx="6270756" cy="919886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591754" y="4664354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5530" y="4396435"/>
            <a:ext cx="5557524" cy="91988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虎口與掌心（5）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：拇指壓住畫圓各 30 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63738" y="5389473"/>
            <a:ext cx="6270756" cy="919886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591754" y="5657392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5530" y="5389473"/>
            <a:ext cx="5557524" cy="91988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手指（6）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：每根由根部捏到指尖，最後輕拉一下。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來源：力道以「舒服的痠」為準（10 分痛裡 4 到 6 分）；有腕隧道症候群或急性發炎的手，避開發炎處。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② 徒手細節　｜　🎵 🎵 慢歌 60 到 70 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徒手按摩：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翹腳按小腿</a:t>
            </a:r>
          </a:p>
        </p:txBody>
      </p:sp>
      <p:pic>
        <p:nvPicPr>
          <p:cNvPr id="5" name="Picture 4" descr="sv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562"/>
            <a:ext cx="4823658" cy="22395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63738" y="1417320"/>
            <a:ext cx="6270756" cy="919886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591754" y="1685239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5530" y="1417320"/>
            <a:ext cx="5557524" cy="91988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姿勢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：坐穩，一腳翹到另一腿膝蓋上，小腿肚朝上。做不到翹腳的人，腳踩地、身體前傾也可以。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3738" y="2410358"/>
            <a:ext cx="6270756" cy="919886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591754" y="2678277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5530" y="2410358"/>
            <a:ext cx="5557524" cy="91988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小腿肚中央（1）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：雙手拇指從腳踝往膝蓋方向慢慢推 5 次，找到最緊的一段停 10 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3738" y="3403396"/>
            <a:ext cx="6270756" cy="919886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591754" y="3671316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5530" y="3403396"/>
            <a:ext cx="5557524" cy="91988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內側、外側（2、3）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：四指與拇指像捏麵糰，由下往上捏，各 30 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3738" y="4396435"/>
            <a:ext cx="6270756" cy="919886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591754" y="4664354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5530" y="4396435"/>
            <a:ext cx="5557524" cy="91988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阿基里斯腱上方（4）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：拇指食指捏住，上下滑動 20 秒。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63738" y="5389473"/>
            <a:ext cx="6270756" cy="919886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591754" y="5657392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5530" y="5389473"/>
            <a:ext cx="5557524" cy="91988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脛前肌（5）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：四指按脛骨外側的肌肉，由下往上壓 5 次。膝窩繞過不壓。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來源：禁忌：靜脈曲張明顯、小腿單側腫痛或懷疑血栓者不按；吃抗凝血藥者力道改輕。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② 徒手細節　｜　🎵 🎵 慢歌 60 到 70 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臉部與頭部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穴位地圖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：耳後、下頜、頭部、眼窩</a:t>
            </a:r>
          </a:p>
        </p:txBody>
      </p:sp>
      <p:pic>
        <p:nvPicPr>
          <p:cNvPr id="5" name="Picture 4" descr="sv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77" y="1417320"/>
            <a:ext cx="2649220" cy="3458705"/>
          </a:xfrm>
          <a:prstGeom prst="rect">
            <a:avLst/>
          </a:prstGeom>
        </p:spPr>
      </p:pic>
      <p:pic>
        <p:nvPicPr>
          <p:cNvPr id="6" name="Picture 5" descr="sv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632" y="1417320"/>
            <a:ext cx="2649220" cy="34587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36510" y="1417320"/>
            <a:ext cx="2597984" cy="3458705"/>
          </a:xfrm>
          <a:prstGeom prst="roundRect">
            <a:avLst>
              <a:gd name="adj" fmla="val 211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27950" y="1508760"/>
            <a:ext cx="2415104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眼窩周邊（A、B、C、D）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27950" y="1892808"/>
            <a:ext cx="2415104" cy="293749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A 攢竹：眉頭內側凹處。B 魚腰：眉毛中點。C 絲竹空：眉尾。D 四白／承泣：眼眶下緣骨頭上。指腹輕按各 10 秒，沿眼眶骨畫一圈 3 次，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不壓眼球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58905"/>
            <a:ext cx="5547207" cy="1250454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5150345"/>
            <a:ext cx="536432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太陽穴與頭頂（E、H）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34393"/>
            <a:ext cx="5364327" cy="72924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E 太陽穴：眉尾與眼角後方凹處，畫圓 20 秒。H 百會：頭頂正中，中指按壓 10 秒，放開，重複 3 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5058905"/>
            <a:ext cx="5547207" cy="1250454"/>
          </a:xfrm>
          <a:prstGeom prst="roundRect">
            <a:avLst>
              <a:gd name="adj" fmla="val 438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78727" y="5150345"/>
            <a:ext cx="536432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耳後與下頜（F、G、I）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5534393"/>
            <a:ext cx="5364327" cy="72924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F 翳風：耳垂後方凹處，指腹輕按 10 秒。G 下頜角後下方與脖子交界：按肌肉畫圓，</a:t>
            </a: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不往前頸喉嚨壓</a:t>
            </a: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。I 風池：後腦髮際線下、兩側凹處，拇指按住頭微後仰 10 秒。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來源：穴位按壓對焦慮有中等證據（Au 2015）；臉部力道輕到中等，用指腹不用指甲。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③ 按摩球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按摩球地圖：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八個位置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，哪裡可以放球</a:t>
            </a:r>
          </a:p>
        </p:txBody>
      </p:sp>
      <p:pic>
        <p:nvPicPr>
          <p:cNvPr id="5" name="Picture 4" descr="sv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85" y="1417320"/>
            <a:ext cx="2790552" cy="4340860"/>
          </a:xfrm>
          <a:prstGeom prst="rect">
            <a:avLst/>
          </a:prstGeom>
        </p:spPr>
      </p:pic>
      <p:pic>
        <p:nvPicPr>
          <p:cNvPr id="6" name="Picture 5" descr="svg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490" y="1417320"/>
            <a:ext cx="2790552" cy="43408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25209" y="1417320"/>
            <a:ext cx="2063202" cy="4340860"/>
          </a:xfrm>
          <a:prstGeom prst="roundRect">
            <a:avLst>
              <a:gd name="adj" fmla="val 2659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16649" y="1508760"/>
            <a:ext cx="188032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靠牆版站著背靠牆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649" y="1892808"/>
            <a:ext cx="1880322" cy="381965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1 上背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：肩胛骨之間、脊椎兩側。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2 肩胛骨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：內側緣與下角。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3 肩膀後側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4 下背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：腰兩側、骨盆上方。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7 胸部前側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：面向牆，球在鎖骨下靠肩膀處。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71292" y="1417320"/>
            <a:ext cx="2063202" cy="4340860"/>
          </a:xfrm>
          <a:prstGeom prst="roundRect">
            <a:avLst>
              <a:gd name="adj" fmla="val 2659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762732" y="1508760"/>
            <a:ext cx="1880322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坐姿版坐在椅子上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62732" y="1892808"/>
            <a:ext cx="1880322" cy="381965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5 臀部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：坐在球上，外上方。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6 小腿後側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：小腿放球上前後滑，膝窩繞過。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8 腳底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：踩球滾。坐姿版也能做 4 下背（椅背與腰之間夾球）。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941060"/>
            <a:ext cx="11277295" cy="642620"/>
          </a:xfrm>
          <a:prstGeom prst="roundRect">
            <a:avLst>
              <a:gd name="adj" fmla="val 8537"/>
            </a:avLst>
          </a:prstGeom>
          <a:solidFill>
            <a:srgbClr val="F3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60" y="5941060"/>
            <a:ext cx="11002975" cy="6426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通則：</a:t>
            </a: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每處 30 到 60 秒，最多 2 分鐘；找到痠點停住呼吸 3 口再移動；痛、麻、暈就停。避開脊椎、骨頭、關節、膝窩、瘀青。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③ 按摩球　｜　🎵 🎵 慢歌 60 到 75 拍・約 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按摩球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靠牆版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：上背、肩胛骨、肩膀、下背、胸前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4823658" cy="516636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ball_wall.jpg"/>
          <p:cNvPicPr>
            <a:picLocks noChangeAspect="1"/>
          </p:cNvPicPr>
          <p:nvPr/>
        </p:nvPicPr>
        <p:blipFill>
          <a:blip r:embed="rId2"/>
          <a:srcRect t="18670" b="18670"/>
          <a:stretch>
            <a:fillRect/>
          </a:stretch>
        </p:blipFill>
        <p:spPr>
          <a:xfrm>
            <a:off x="530352" y="1490472"/>
            <a:ext cx="4677354" cy="4396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04992"/>
            <a:ext cx="4640778" cy="6238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基本姿勢</a:t>
            </a: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：背對牆、腳離牆一步、膝蓋微彎，用腿的屈伸讓球滾動，不用手。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63738" y="1417320"/>
            <a:ext cx="6270756" cy="974750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591754" y="1712671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5530" y="1417320"/>
            <a:ext cx="5557524" cy="97475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上背（1）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：球在肩胛骨與脊椎之間，身體上下移動 30 秒，換邊。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63738" y="2465222"/>
            <a:ext cx="6270756" cy="974750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591754" y="2760573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5530" y="2465222"/>
            <a:ext cx="5557524" cy="97475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肩胛骨（2）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：球在肩胛骨內側緣，同側手臂抱向對側肩，讓肩胛骨打開，小幅上下 30 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3738" y="3513124"/>
            <a:ext cx="6270756" cy="974750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91754" y="3808476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5530" y="3513124"/>
            <a:ext cx="5557524" cy="97475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肩膀後側（3）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：球在肩膀後方肉厚處，手臂慢慢畫圈 20 秒。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63738" y="4561027"/>
            <a:ext cx="6270756" cy="974750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591754" y="4856378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5530" y="4561027"/>
            <a:ext cx="5557524" cy="97475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下背（4）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：球在腰兩側、骨盆上方的肌肉，</a:t>
            </a: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不在脊椎上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，左右微轉身 30 秒，換邊。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63738" y="5608929"/>
            <a:ext cx="6270756" cy="974750"/>
          </a:xfrm>
          <a:prstGeom prst="roundRect">
            <a:avLst>
              <a:gd name="adj" fmla="val 562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591754" y="5904280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5530" y="5608929"/>
            <a:ext cx="5557524" cy="97475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胸部前側（7）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：面向牆，球在鎖骨下靠肩膀內側，身體靠上去，手臂上下擺 20 秒，換邊。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③ 按摩球　｜　🎵 🎵 慢歌 60 到 75 拍・約 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按摩球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坐姿版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：臀部、小腿後側、膝窩上下、腳底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455767" cy="75438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85216" y="1602486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17320"/>
            <a:ext cx="4742535" cy="7543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臀部坐球（5）</a:t>
            </a: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：球放一側臀部外上方，重心慢慢移過去，身體前後左右小幅搖 30 到 60 秒，換邊。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4852"/>
            <a:ext cx="5455767" cy="75438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85216" y="2430018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44852"/>
            <a:ext cx="4742535" cy="7543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大腿後側</a:t>
            </a: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：坐椅子前緣，球放大腿後側下方，腿前後滑 30 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72384"/>
            <a:ext cx="5455767" cy="75438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85216" y="3257550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72384"/>
            <a:ext cx="4742535" cy="7543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小腿後側（6）</a:t>
            </a: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：腳放前面的椅子上或腿伸直放地，球在小腿肚下，腿前後滑 30 秒；另一腳壓上來可加強。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99915"/>
            <a:ext cx="5455767" cy="75438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85216" y="4085081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899915"/>
            <a:ext cx="4742535" cy="7543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膝窩上下</a:t>
            </a: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：膝窩本身</a:t>
            </a: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不壓</a:t>
            </a: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，球放膝窩上方 3 指（大腿後側）與下方 3 指（小腿肚上緣），各 20 秒。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27448"/>
            <a:ext cx="5455767" cy="75438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85216" y="4912614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727448"/>
            <a:ext cx="4742535" cy="7543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腳底（8）</a:t>
            </a: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：踩球從腳跟滾到腳趾，一腳 1 分鐘。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54980"/>
            <a:ext cx="5455767" cy="75438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85216" y="5740146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5554980"/>
            <a:ext cx="4742535" cy="7543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下背坐姿版（4）</a:t>
            </a: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：球夾在椅背與腰側肌肉之間，身體微微左右轉 30 秒。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7" y="1417320"/>
            <a:ext cx="2727883" cy="4892040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foot_self.jpg"/>
          <p:cNvPicPr>
            <a:picLocks noChangeAspect="1"/>
          </p:cNvPicPr>
          <p:nvPr/>
        </p:nvPicPr>
        <p:blipFill>
          <a:blip r:embed="rId2"/>
          <a:srcRect l="29133" r="29133"/>
          <a:stretch>
            <a:fillRect/>
          </a:stretch>
        </p:blipFill>
        <p:spPr>
          <a:xfrm>
            <a:off x="6168999" y="1490472"/>
            <a:ext cx="2581579" cy="41219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87287" y="5630672"/>
            <a:ext cx="2545003" cy="6238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坐姿版最安全</a:t>
            </a: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：站不穩、怕跌倒的人全部用這一頁。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611" y="1417320"/>
            <a:ext cx="2727883" cy="4892040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ball_hand.jpg"/>
          <p:cNvPicPr>
            <a:picLocks noChangeAspect="1"/>
          </p:cNvPicPr>
          <p:nvPr/>
        </p:nvPicPr>
        <p:blipFill>
          <a:blip r:embed="rId3"/>
          <a:srcRect l="30150" r="30150"/>
          <a:stretch>
            <a:fillRect/>
          </a:stretch>
        </p:blipFill>
        <p:spPr>
          <a:xfrm>
            <a:off x="9079763" y="1490472"/>
            <a:ext cx="2581579" cy="43332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98051" y="5842000"/>
            <a:ext cx="2545003" cy="4124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沒有球？網球、刺球都可以。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來源：證據提醒：滾筒與按摩球主要支持減少痠痛與增加柔軟度（Wiewelhove 2019；Grieve 2015），對自律神經的效果不一致，所以放在配角位置。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安全第一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這些情況，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先問再做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或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不要做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547207" cy="4020566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6432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🚫按摩不要按的地方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5364327" cy="349935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前頸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（喉嚨兩側）：有頸動脈竇，可能影響血壓與心跳。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脊椎正中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與關節骨頭：滾筒、按摩球避開。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紅腫熱痛、瘀青、傷口、靜脈曲張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的部位。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小腿深處壓痛且單側腫脹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：可能是血栓，不按，就醫。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417320"/>
            <a:ext cx="5547207" cy="4020566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78727" y="1508760"/>
            <a:ext cx="536432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⚠️要先問醫師或治療師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92808"/>
            <a:ext cx="5364327" cy="349935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吃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抗凝血藥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、血小板低：力道改輕，或只做伸展。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骨質疏鬆、關節置換、剛手術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：避開該部位的伸展與按壓。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血壓不穩、心臟病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：避免憋氣與頭低於心臟的動作。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任何動作出現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頭暈、刺痛、麻、喘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：立刻停，舉手。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20766"/>
            <a:ext cx="11277295" cy="962914"/>
          </a:xfrm>
          <a:prstGeom prst="roundRect">
            <a:avLst>
              <a:gd name="adj" fmla="val 5697"/>
            </a:avLst>
          </a:prstGeom>
          <a:solidFill>
            <a:srgbClr val="F3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5620766"/>
            <a:ext cx="11002975" cy="96291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原則：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減壓的動作一定是「舒服的」。痛、麻、暈都不是放鬆，是身體在喊停。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stretch_couple.jpg"/>
          <p:cNvPicPr>
            <a:picLocks noChangeAspect="1"/>
          </p:cNvPicPr>
          <p:nvPr/>
        </p:nvPicPr>
        <p:blipFill>
          <a:blip r:embed="rId2"/>
          <a:srcRect l="22752" r="22752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第二部分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4864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310"/>
              </a:spcAft>
            </a:pPr>
            <a:r>
              <a:rPr sz="66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566928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2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伸展：配著音樂動起來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5486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D9CFEA"/>
                </a:solidFill>
                <a:latin typeface="Microsoft JhengHei"/>
                <a:ea typeface="Microsoft JhengHei"/>
                <a:cs typeface="Microsoft JhengHei"/>
              </a:rPr>
              <a:t>哪種伸展比較能減壓？研究有答案，而且關鍵不在「哪一種」。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大哉問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運動真的有效嗎？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108960" cy="4892040"/>
          </a:xfrm>
          <a:prstGeom prst="roundRect">
            <a:avLst>
              <a:gd name="adj" fmla="val 1764"/>
            </a:avLst>
          </a:prstGeom>
          <a:solidFill>
            <a:srgbClr val="2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260"/>
              </a:spcAft>
            </a:pPr>
            <a:r>
              <a:rPr sz="36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743200" cy="16230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20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而且很一致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50384"/>
            <a:ext cx="2743200" cy="176113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DCD3EA"/>
                </a:solidFill>
                <a:latin typeface="Microsoft JhengHei"/>
                <a:ea typeface="Microsoft JhengHei"/>
                <a:cs typeface="Microsoft JhengHei"/>
              </a:rPr>
              <a:t>對憂鬱、焦慮、心理困擾都是中等效果，各種運動型態都算數。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417320"/>
            <a:ext cx="7985455" cy="1557528"/>
          </a:xfrm>
          <a:prstGeom prst="roundRect">
            <a:avLst>
              <a:gd name="adj" fmla="val 352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840479" y="1508760"/>
            <a:ext cx="780257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Singh 等 2023・Br J Sports Med 傘狀回顧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1892808"/>
            <a:ext cx="7802575" cy="10363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整理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97 篇回顧、1,039 個試驗、約 128,000 人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。身體活動改善憂鬱（效果量 −0.43）、焦慮（−0.42）、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心理困擾（−0.60）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。強度較高效果較大；12 週以內的短期計畫效果最明顯。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084575"/>
            <a:ext cx="7985455" cy="1557528"/>
          </a:xfrm>
          <a:prstGeom prst="roundRect">
            <a:avLst>
              <a:gd name="adj" fmla="val 352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40479" y="3176016"/>
            <a:ext cx="780257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Noetel 等 2024・BMJ 網絡統合分析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3560064"/>
            <a:ext cx="7802575" cy="1036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218 個試驗。走路或慢跑、瑜伽、肌力訓練對憂鬱都有效，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強度愈高效果愈好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，但任何強度都比不動好。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751832"/>
            <a:ext cx="7985455" cy="1557528"/>
          </a:xfrm>
          <a:prstGeom prst="roundRect">
            <a:avLst>
              <a:gd name="adj" fmla="val 3522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840479" y="4843271"/>
            <a:ext cx="7802575" cy="1420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翻成白話：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不必跑步。今天這種動態伸展、快走、太極，都屬於「有效的身體活動」。關鍵是持續做。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來源：Singh B, et al. Br J Sports Med 2023;57:1203-1209. Noetel M, et al. BMJ 2024;384:e075847.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先猜猜看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伸展要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放鬆身心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，研究發現關鍵是？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547207" cy="197231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94360" y="2220595"/>
            <a:ext cx="365760" cy="365760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17320"/>
            <a:ext cx="4861407" cy="197231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拉得愈開、愈痠愈有效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417320"/>
            <a:ext cx="5547207" cy="197231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24447" y="2220595"/>
            <a:ext cx="365760" cy="365760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647" y="1417320"/>
            <a:ext cx="4861407" cy="197231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動作慢、配合呼吸、持續做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26790"/>
            <a:ext cx="5547207" cy="197231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94360" y="4330065"/>
            <a:ext cx="365760" cy="365760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26790"/>
            <a:ext cx="4861407" cy="197231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一定要動態伸展才有效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3526790"/>
            <a:ext cx="5547207" cy="197231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24447" y="4330065"/>
            <a:ext cx="365760" cy="365760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647" y="3526790"/>
            <a:ext cx="4861407" cy="197231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每次至少要三十分鐘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81980"/>
            <a:ext cx="11277295" cy="901700"/>
          </a:xfrm>
          <a:prstGeom prst="roundRect">
            <a:avLst>
              <a:gd name="adj" fmla="val 6084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5681980"/>
            <a:ext cx="11002975" cy="9017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提示：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想想剛剛講的「關機鍵」。什麼樣的動作，會讓身體回傳「沒事了」的訊號？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三種伸展，角色不同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先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動態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叫醒身體，再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靜態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配呼吸放鬆，音樂是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加分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7293" cy="377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389"/>
                <a:gridCol w="3956945"/>
                <a:gridCol w="4154792"/>
                <a:gridCol w="2374167"/>
              </a:tblGrid>
              <a:tr h="94424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類型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做法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對減壓的證據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今天的角色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</a:tr>
              <a:tr h="94424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動態伸展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有節奏地把關節帶到活動範圍末端再回來，不停留。肩繞環、手臂擺盪、轉體、原地踏步。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屬於輕度身體活動，可提升體溫、血流與警醒度；身體活動本身對心理困擾有中等效果（Singh 2023）。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開頭五分鐘把僵掉的身體叫醒，釋放「僵住」的能量。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94424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靜態伸展＋慢呼吸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拉到「痠但不痛」停住 30 到 60 秒，吐氣時再放鬆一點。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工作者每天 10 分鐘、持續 3 個月：焦慮與倦怠下降（Montero-Marín 2013 RCT）。28 天每天 15 分鐘：心率變異上升、靜止心跳下降（Mueck-Weymann 2004）。長者 8 週：降血壓效果優於快走（Ko 2021 RCT）。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主角真正啟動副交感的是「慢 ＋ 吐氣 ＋ 停留」。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94424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配音樂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用慢節奏（約 60 到 80 拍）、自己喜歡、沒有歌詞或很熟悉的音樂。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音樂介入本身對壓力有效：心理指標效果量 0.55、生理指標 0.38，對心跳的效果最明顯（de Witte 2020，104 個 RCT）。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加分幫助呼吸放慢、注意力留在身體上。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377180"/>
            <a:ext cx="11277295" cy="932179"/>
          </a:xfrm>
          <a:prstGeom prst="roundRect">
            <a:avLst>
              <a:gd name="adj" fmla="val 5885"/>
            </a:avLst>
          </a:prstGeom>
          <a:solidFill>
            <a:srgbClr val="F3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5377180"/>
            <a:ext cx="11002975" cy="93217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誠實提醒：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單次靜態伸展對心率變異的研究結果不一致，有些甚至短暫上升交感。證據一致的是「持續做幾週」。所以答案不是哪一種，而是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慢、配呼吸、持續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來源：Montero-Marín J, et al. Aten Primaria 2013;45(7):376-383. Mueck-Weymann M, et al. Clin Auton Res 2004;14(1):15-18. Ko J, et al. J Phys Act Health 2021;18(1):21-28. de Witte M, et al. Health Psychol Rev 2020;14(2):294-324.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操作規格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減壓伸展的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七條細則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590931"/>
          </a:xfrm>
          <a:prstGeom prst="roundRect">
            <a:avLst>
              <a:gd name="adj" fmla="val 928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85216" y="1520761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417320"/>
            <a:ext cx="10564063" cy="59093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強度：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拉到「痠痠的、可以忍」就停，大約 10 分痛裡的 3 到 4 分。不追求更開。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81403"/>
            <a:ext cx="11277295" cy="590931"/>
          </a:xfrm>
          <a:prstGeom prst="roundRect">
            <a:avLst>
              <a:gd name="adj" fmla="val 928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85216" y="2184844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081403"/>
            <a:ext cx="10564063" cy="59093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時間：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每個姿勢停 15 到 30 秒；長者或較僵硬的人停 30 到 60 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5486"/>
            <a:ext cx="11277295" cy="590931"/>
          </a:xfrm>
          <a:prstGeom prst="roundRect">
            <a:avLst>
              <a:gd name="adj" fmla="val 928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85216" y="2848927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745486"/>
            <a:ext cx="10564063" cy="59093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次數：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每個部位做 2 到 4 回，每週至少 2 到 3 天，每天更好。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09569"/>
            <a:ext cx="11277295" cy="590931"/>
          </a:xfrm>
          <a:prstGeom prst="roundRect">
            <a:avLst>
              <a:gd name="adj" fmla="val 928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85216" y="3513010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409569"/>
            <a:ext cx="10564063" cy="59093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呼吸：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吐氣時再鬆一點點。全程不憋氣。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83380"/>
            <a:ext cx="11277295" cy="659892"/>
          </a:xfrm>
          <a:prstGeom prst="roundRect">
            <a:avLst>
              <a:gd name="adj" fmla="val 831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85216" y="4321302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83380"/>
            <a:ext cx="10564063" cy="6598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速度：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慢慢進去、慢慢出來。不彈震、不甩。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16424"/>
            <a:ext cx="11277295" cy="659892"/>
          </a:xfrm>
          <a:prstGeom prst="roundRect">
            <a:avLst>
              <a:gd name="adj" fmla="val 831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85216" y="5054346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916424"/>
            <a:ext cx="10564063" cy="6598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注意力：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眼睛可以閉上，注意被拉開的那條肌肉的感覺。這就是把覺察放進伸展。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49468"/>
            <a:ext cx="11277295" cy="659892"/>
          </a:xfrm>
          <a:prstGeom prst="roundRect">
            <a:avLst>
              <a:gd name="adj" fmla="val 8314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85216" y="5787390"/>
            <a:ext cx="384048" cy="384048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649468"/>
            <a:ext cx="10564063" cy="6598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安全：</a:t>
            </a:r>
            <a:r>
              <a:rPr sz="16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有關節置換、骨質疏鬆、急性發炎、剛手術的部位，先問醫師或治療師；頭暈立刻停。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來源：依 ACSM Guidelines for Exercise Testing and Prescription（第 11 版）柔軟度運動建議整理；長者停留時間依 ACSM 老年人建議。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④ 動態伸展　｜　🎵 🎵 熟悉快歌 90 到 100 拍・約 6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六式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把身體叫醒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，每式 8 到 10 下 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66928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1肩膀畫大圓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雙肩向後、向上、向前慢慢繞圈，再反方向。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提示：「像在把背包甩掉。」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打開上斜方肌與胸口，最常緊繃的地方。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2018" y="141732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371746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7506" y="149047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2手臂前後擺盪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1874519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雙臂放鬆，像走路一樣前後擺，幅度慢慢加大。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提示：「手臂是兩條繩子。」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讓肩關節在無負重下活動。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41732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176564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2324" y="149047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3轉體看後面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276" y="1874519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雙手交疊胸前，上半身慢慢左轉、右轉，眼睛跟著看。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提示：「看看後面有誰。」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活動胸椎與腰部，呼吸會變深。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2491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66928" y="383463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79806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4原地踏步抬膝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82110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坐著或站著，交替抬膝，手臂自然擺動。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提示：「像在走去市場。」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提升心跳與體溫，這就是「身體活動」。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2018" y="372491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371746" y="383463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7506" y="379806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5側彎摘果子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3458" y="4182110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一手高舉向對側慢慢伸，像摘高處的東西，再換邊。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提示：「摘最上面那顆。」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拉開側腰與肋間，讓肺有空間。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6836" y="372491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176564" y="383463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2324" y="379806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6腳踝畫圈、甩手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8276" y="4182110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腳踝順逆各轉，再把雙手輕甩 10 秒。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提示：「把緊張從指尖甩出去。」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末梢循環，也是一個「卸下」的儀式。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78220"/>
            <a:ext cx="11277295" cy="505460"/>
          </a:xfrm>
          <a:prstGeom prst="roundRect">
            <a:avLst>
              <a:gd name="adj" fmla="val 10854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" y="6078220"/>
            <a:ext cx="11002975" cy="5054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重點：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節奏像走路，不喘、不甩、不憋氣。做完問一句：「現在身體比剛剛醒了幾分？」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⑤ 靜態伸展＋慢呼吸　｜　🎵 🎵 慢歌 60 到 80 拍・約 10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六式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配吐氣放鬆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，每式停 30 到 60 秒 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66928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1頸側伸展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右手輕放頭左側，頭慢慢向右倒，左肩往下沉。換邊。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吐氣：「肩膀往地板沉。」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上斜方肌，壓力最愛住的地方。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2018" y="141732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371746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7506" y="149047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2低頭看口袋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1874519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雙手交扣輕放後腦，頭慢慢低下，手不用壓，只是重量。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吐氣：「後頸慢慢變長。」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後頸肌群，常與緊張性頭痛有關。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41732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176564" y="152704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2324" y="149047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3開胸擴背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276" y="1874519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雙手在背後交扣（或各抓椅背），胸口向前、向上打開。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吸氣：「胸口打開。」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反轉整天低頭含胸的姿勢，讓呼吸變深。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2491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66928" y="383463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79806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4坐姿抱膝扭轉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82110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坐著，右腳跨左腿上（或踩地），身體向右轉，左手抱膝。換邊。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吐氣：「再轉一點點。」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臀部與下背，久坐族必做。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2018" y="372491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371746" y="383463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7506" y="379806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5坐姿大腿後側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3458" y="4182110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坐椅子前緣，一腳伸直腳跟著地，背打直從髖部前傾。換邊。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吐氣：「背是直的，往前倒。」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大腿後側緊，骨盆與腰都會跟著緊。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6836" y="3724910"/>
            <a:ext cx="3667658" cy="2170430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176564" y="3834638"/>
            <a:ext cx="310896" cy="310896"/>
          </a:xfrm>
          <a:prstGeom prst="ellipse">
            <a:avLst/>
          </a:prstGeom>
          <a:solidFill>
            <a:srgbClr val="5E4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2324" y="3798062"/>
            <a:ext cx="3119018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6雙手上舉、整身嘆氣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8276" y="4182110"/>
            <a:ext cx="3484778" cy="166750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吸氣雙手上舉，吐氣時「哈」一聲放下，全身垮下來。做三次。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「把今天的重量放下。」</a:t>
            </a:r>
          </a:p>
          <a:p>
            <a:pPr algn="l">
              <a:lnSpc>
                <a:spcPct val="115000"/>
              </a:lnSpc>
              <a:spcAft>
                <a:spcPts val="32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收尾的儀式，結合循環嘆息。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78220"/>
            <a:ext cx="11277295" cy="505460"/>
          </a:xfrm>
          <a:prstGeom prst="roundRect">
            <a:avLst>
              <a:gd name="adj" fmla="val 10854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" y="6078220"/>
            <a:ext cx="11002975" cy="5054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講師口令：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「吸……吐……吐的時候再鬆一點點。」每式之間停三秒，請大家感覺剛剛被拉開的那個地方。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⑤ 延伸　｜　🎵 🎵 慢歌 60 到 80 拍・約 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頸部與軀幹：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前後、左右、旋轉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，坐著做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82163" cy="2491740"/>
          </a:xfrm>
          <a:prstGeom prst="roundRect">
            <a:avLst>
              <a:gd name="adj" fmla="val 220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neck_side.jpg"/>
          <p:cNvPicPr>
            <a:picLocks noChangeAspect="1"/>
          </p:cNvPicPr>
          <p:nvPr/>
        </p:nvPicPr>
        <p:blipFill>
          <a:blip r:embed="rId2"/>
          <a:srcRect t="30148" b="30148"/>
          <a:stretch>
            <a:fillRect/>
          </a:stretch>
        </p:blipFill>
        <p:spPr>
          <a:xfrm>
            <a:off x="530352" y="1490472"/>
            <a:ext cx="2535859" cy="1510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01904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頸 前後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低頭看口袋 15 秒；再小幅抬頭看天花板 10 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417320"/>
            <a:ext cx="2682163" cy="2491740"/>
          </a:xfrm>
          <a:prstGeom prst="roundRect">
            <a:avLst>
              <a:gd name="adj" fmla="val 220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neck_turn.jpg"/>
          <p:cNvPicPr>
            <a:picLocks noChangeAspect="1"/>
          </p:cNvPicPr>
          <p:nvPr/>
        </p:nvPicPr>
        <p:blipFill>
          <a:blip r:embed="rId3"/>
          <a:srcRect t="30148" b="30148"/>
          <a:stretch>
            <a:fillRect/>
          </a:stretch>
        </p:blipFill>
        <p:spPr>
          <a:xfrm>
            <a:off x="3395395" y="1490472"/>
            <a:ext cx="2535859" cy="15102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13683" y="301904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頸 側彎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耳朵往肩膀靠，對側肩往下沉，各 15 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417320"/>
            <a:ext cx="2682163" cy="2491740"/>
          </a:xfrm>
          <a:prstGeom prst="roundRect">
            <a:avLst>
              <a:gd name="adj" fmla="val 220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rms_open.jpg"/>
          <p:cNvPicPr>
            <a:picLocks noChangeAspect="1"/>
          </p:cNvPicPr>
          <p:nvPr/>
        </p:nvPicPr>
        <p:blipFill>
          <a:blip r:embed="rId4"/>
          <a:srcRect t="5312" b="5312"/>
          <a:stretch>
            <a:fillRect/>
          </a:stretch>
        </p:blipFill>
        <p:spPr>
          <a:xfrm>
            <a:off x="6260439" y="1490472"/>
            <a:ext cx="2535859" cy="15102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8727" y="301904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頸 旋轉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下巴水平轉向肩膀，眼睛跟著看，各 15 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331" y="1417320"/>
            <a:ext cx="2682163" cy="2491740"/>
          </a:xfrm>
          <a:prstGeom prst="roundRect">
            <a:avLst>
              <a:gd name="adj" fmla="val 220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orward_reach.jpg"/>
          <p:cNvPicPr>
            <a:picLocks noChangeAspect="1"/>
          </p:cNvPicPr>
          <p:nvPr/>
        </p:nvPicPr>
        <p:blipFill>
          <a:blip r:embed="rId5"/>
          <a:srcRect t="30148" b="30148"/>
          <a:stretch>
            <a:fillRect/>
          </a:stretch>
        </p:blipFill>
        <p:spPr>
          <a:xfrm>
            <a:off x="9125483" y="1490472"/>
            <a:ext cx="2535859" cy="15102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3771" y="301904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軀幹 前彎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雙手往前伸，背從髖部往前倒，停 15 秒。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91940"/>
            <a:ext cx="2682163" cy="2491740"/>
          </a:xfrm>
          <a:prstGeom prst="roundRect">
            <a:avLst>
              <a:gd name="adj" fmla="val 220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tretch_couple.jpg"/>
          <p:cNvPicPr>
            <a:picLocks noChangeAspect="1"/>
          </p:cNvPicPr>
          <p:nvPr/>
        </p:nvPicPr>
        <p:blipFill>
          <a:blip r:embed="rId6"/>
          <a:srcRect t="5316" b="5316"/>
          <a:stretch>
            <a:fillRect/>
          </a:stretch>
        </p:blipFill>
        <p:spPr>
          <a:xfrm>
            <a:off x="530352" y="4165092"/>
            <a:ext cx="2535859" cy="15102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569366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軀幹 後仰開胸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雙手扶椅背或腰後，胸口向上打開，小幅後仰 10 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22243" y="4091940"/>
            <a:ext cx="2682163" cy="2491740"/>
          </a:xfrm>
          <a:prstGeom prst="roundRect">
            <a:avLst>
              <a:gd name="adj" fmla="val 220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side_bend.jpg"/>
          <p:cNvPicPr>
            <a:picLocks noChangeAspect="1"/>
          </p:cNvPicPr>
          <p:nvPr/>
        </p:nvPicPr>
        <p:blipFill>
          <a:blip r:embed="rId7"/>
          <a:srcRect t="30800" b="30800"/>
          <a:stretch>
            <a:fillRect/>
          </a:stretch>
        </p:blipFill>
        <p:spPr>
          <a:xfrm>
            <a:off x="3395395" y="4165092"/>
            <a:ext cx="2535859" cy="15102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413683" y="569366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軀幹 側彎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一手高舉往對側倒，像摘高處的果子，各 15 秒。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4091940"/>
            <a:ext cx="2682163" cy="2491740"/>
          </a:xfrm>
          <a:prstGeom prst="roundRect">
            <a:avLst>
              <a:gd name="adj" fmla="val 2201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twist_seated.jpg"/>
          <p:cNvPicPr>
            <a:picLocks noChangeAspect="1"/>
          </p:cNvPicPr>
          <p:nvPr/>
        </p:nvPicPr>
        <p:blipFill>
          <a:blip r:embed="rId8"/>
          <a:srcRect t="30148" b="30148"/>
          <a:stretch>
            <a:fillRect/>
          </a:stretch>
        </p:blipFill>
        <p:spPr>
          <a:xfrm>
            <a:off x="6260439" y="4165092"/>
            <a:ext cx="2535859" cy="15102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78727" y="5693664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軀幹 旋轉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雙手交疊胸前，慢慢轉向後方看，各 15 秒。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331" y="4091940"/>
            <a:ext cx="2682163" cy="2491740"/>
          </a:xfrm>
          <a:prstGeom prst="roundRect">
            <a:avLst>
              <a:gd name="adj" fmla="val 2201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3771" y="418338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口令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771" y="4567428"/>
            <a:ext cx="2499283" cy="19705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動的時候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吐氣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，回來時吸氣。每個方向 2 回。後仰一律小幅度、不憋氣。頭暈就停。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⑤ 延伸　｜　🎵 🎵 慢歌 60 到 80 拍・約 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腿後伸展：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椅子、牆、毛巾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都可以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82163" cy="2452163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ham_floor.jpg"/>
          <p:cNvPicPr>
            <a:picLocks noChangeAspect="1"/>
          </p:cNvPicPr>
          <p:nvPr/>
        </p:nvPicPr>
        <p:blipFill>
          <a:blip r:embed="rId2"/>
          <a:srcRect t="12736" b="12736"/>
          <a:stretch>
            <a:fillRect/>
          </a:stretch>
        </p:blipFill>
        <p:spPr>
          <a:xfrm>
            <a:off x="530352" y="1490472"/>
            <a:ext cx="2535859" cy="12593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768139"/>
            <a:ext cx="2499283" cy="1046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椅子版（坐姿）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坐椅前緣，一腿伸直腳跟著地、腳尖勾起，背打直從髖部前傾，停 30 到 60 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417320"/>
            <a:ext cx="2682163" cy="2452163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ham_towel_seated.jpg"/>
          <p:cNvPicPr>
            <a:picLocks noChangeAspect="1"/>
          </p:cNvPicPr>
          <p:nvPr/>
        </p:nvPicPr>
        <p:blipFill>
          <a:blip r:embed="rId3"/>
          <a:srcRect t="30668" b="30668"/>
          <a:stretch>
            <a:fillRect/>
          </a:stretch>
        </p:blipFill>
        <p:spPr>
          <a:xfrm>
            <a:off x="3395395" y="1490472"/>
            <a:ext cx="2535859" cy="14707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13683" y="2979467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毛巾版（坐姿）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毛巾繞過腳掌，雙手拉毛巾、背打直往前帶，腳尖往自己勾。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417320"/>
            <a:ext cx="2682163" cy="2452163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ham_towel_lying.jpg"/>
          <p:cNvPicPr>
            <a:picLocks noChangeAspect="1"/>
          </p:cNvPicPr>
          <p:nvPr/>
        </p:nvPicPr>
        <p:blipFill>
          <a:blip r:embed="rId4"/>
          <a:srcRect t="12736" b="12736"/>
          <a:stretch>
            <a:fillRect/>
          </a:stretch>
        </p:blipFill>
        <p:spPr>
          <a:xfrm>
            <a:off x="6260439" y="1490472"/>
            <a:ext cx="2535859" cy="12593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78727" y="2768139"/>
            <a:ext cx="2499283" cy="1046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毛巾版（躺姿）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平躺，毛巾繞腳掌把腿拉向天花板，另一腿彎曲踩地，膝蓋可微彎。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331" y="1417320"/>
            <a:ext cx="2682163" cy="2452163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legs_wall.jpg"/>
          <p:cNvPicPr>
            <a:picLocks noChangeAspect="1"/>
          </p:cNvPicPr>
          <p:nvPr/>
        </p:nvPicPr>
        <p:blipFill>
          <a:blip r:embed="rId5"/>
          <a:srcRect t="8455" b="8455"/>
          <a:stretch>
            <a:fillRect/>
          </a:stretch>
        </p:blipFill>
        <p:spPr>
          <a:xfrm>
            <a:off x="9125483" y="1490472"/>
            <a:ext cx="2535859" cy="14707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3771" y="2979467"/>
            <a:ext cx="2499283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牆版（躺姿）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臀部靠牆，雙腿靠牆上舉 1 到 2 分鐘；想加強就把腳尖勾起。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52363"/>
            <a:ext cx="3637178" cy="2531316"/>
          </a:xfrm>
          <a:prstGeom prst="roundRect">
            <a:avLst>
              <a:gd name="adj" fmla="val 216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alf_wall.jpg"/>
          <p:cNvPicPr>
            <a:picLocks noChangeAspect="1"/>
          </p:cNvPicPr>
          <p:nvPr/>
        </p:nvPicPr>
        <p:blipFill>
          <a:blip r:embed="rId6"/>
          <a:srcRect t="16687" b="16687"/>
          <a:stretch>
            <a:fillRect/>
          </a:stretch>
        </p:blipFill>
        <p:spPr>
          <a:xfrm>
            <a:off x="530352" y="4125515"/>
            <a:ext cx="3490874" cy="15498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5693664"/>
            <a:ext cx="3454298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牆版（站姿，小腿）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雙手推牆，後腳跟踩地、膝伸直，前膝微彎，停 30 秒換腳。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7258" y="4052363"/>
            <a:ext cx="3637178" cy="2531316"/>
          </a:xfrm>
          <a:prstGeom prst="roundRect">
            <a:avLst>
              <a:gd name="adj" fmla="val 216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wall_hinge.jpg"/>
          <p:cNvPicPr>
            <a:picLocks noChangeAspect="1"/>
          </p:cNvPicPr>
          <p:nvPr/>
        </p:nvPicPr>
        <p:blipFill>
          <a:blip r:embed="rId7"/>
          <a:srcRect t="16687" b="16687"/>
          <a:stretch>
            <a:fillRect/>
          </a:stretch>
        </p:blipFill>
        <p:spPr>
          <a:xfrm>
            <a:off x="4350410" y="4125515"/>
            <a:ext cx="3490874" cy="15498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68698" y="5693664"/>
            <a:ext cx="3454298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桌子或牆版（站姿）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雙手扶桌或牆，臀部往後推、背打直成 L 形，腿後與背一起拉開，停 30 秒。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7316" y="4052363"/>
            <a:ext cx="3637178" cy="2531316"/>
          </a:xfrm>
          <a:prstGeom prst="roundRect">
            <a:avLst>
              <a:gd name="adj" fmla="val 2167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88756" y="4143803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要點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8756" y="4527851"/>
            <a:ext cx="3454298" cy="20101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背要直，從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髖部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前傾，不是彎腰去碰腳。腳尖往自己勾會更有感。每種停 30 到 60 秒、每腿 2 回，吐氣時再鬆一點。長輩優先椅子版與毛巾坐姿版。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⑤ 延伸　｜　🎵 🎵 慢歌 60 到 80 拍・約 4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胸部伸展：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牆、桌子、毛巾、椅子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3717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hest_wall.jpg"/>
          <p:cNvPicPr>
            <a:picLocks noChangeAspect="1"/>
          </p:cNvPicPr>
          <p:nvPr/>
        </p:nvPicPr>
        <p:blipFill>
          <a:blip r:embed="rId2"/>
          <a:srcRect t="27764" b="27764"/>
          <a:stretch>
            <a:fillRect/>
          </a:stretch>
        </p:blipFill>
        <p:spPr>
          <a:xfrm>
            <a:off x="530352" y="1490472"/>
            <a:ext cx="3490874" cy="2328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837431"/>
            <a:ext cx="3454298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牆版（單手）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側身站，手掌與前臂貼牆、手肘與肩同高，身體慢慢往反方向轉，停 30 秒換邊。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258" y="1417320"/>
            <a:ext cx="363717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wall_hinge.jpg"/>
          <p:cNvPicPr>
            <a:picLocks noChangeAspect="1"/>
          </p:cNvPicPr>
          <p:nvPr/>
        </p:nvPicPr>
        <p:blipFill>
          <a:blip r:embed="rId3"/>
          <a:srcRect l="53" r="53"/>
          <a:stretch>
            <a:fillRect/>
          </a:stretch>
        </p:blipFill>
        <p:spPr>
          <a:xfrm>
            <a:off x="4350410" y="1490472"/>
            <a:ext cx="3490874" cy="2328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8698" y="3837431"/>
            <a:ext cx="3454298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桌子版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雙手扶桌，往後退一步，胸口往地板沉、頭在手臂之間，停 30 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417320"/>
            <a:ext cx="3637178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arms_open.jpg"/>
          <p:cNvPicPr>
            <a:picLocks noChangeAspect="1"/>
          </p:cNvPicPr>
          <p:nvPr/>
        </p:nvPicPr>
        <p:blipFill>
          <a:blip r:embed="rId4"/>
          <a:srcRect l="53" r="53"/>
          <a:stretch>
            <a:fillRect/>
          </a:stretch>
        </p:blipFill>
        <p:spPr>
          <a:xfrm>
            <a:off x="8170468" y="1490472"/>
            <a:ext cx="3490874" cy="23286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8756" y="3837431"/>
            <a:ext cx="3454298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椅子版（坐姿）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雙手在椅背後交扣或各抓椅背，肩胛骨往中間夾，胸口向前向上，停 30 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10328"/>
            <a:ext cx="3637178" cy="1673351"/>
          </a:xfrm>
          <a:prstGeom prst="roundRect">
            <a:avLst>
              <a:gd name="adj" fmla="val 327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500176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毛巾版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85816"/>
            <a:ext cx="3454298" cy="1152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雙手握毛巾兩端、比肩寬，吸氣把毛巾舉過頭，吐氣慢慢往後帶到肩膀後方，再舉回來。做 8 次，肩膀緊的人毛巾握寬一點。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7258" y="4910328"/>
            <a:ext cx="3637178" cy="1673351"/>
          </a:xfrm>
          <a:prstGeom prst="roundRect">
            <a:avLst>
              <a:gd name="adj" fmla="val 327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68698" y="500176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門框版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8698" y="5385816"/>
            <a:ext cx="3454298" cy="1152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站在門框中，雙手前臂貼門框兩側、手肘與肩同高，一腳往前跨，胸口往前推，停 30 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7316" y="4910328"/>
            <a:ext cx="3637178" cy="1673351"/>
          </a:xfrm>
          <a:prstGeom prst="roundRect">
            <a:avLst>
              <a:gd name="adj" fmla="val 3278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88756" y="5001768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要點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8756" y="5385816"/>
            <a:ext cx="3454298" cy="1152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吸氣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時胸口打開，肩膀不聳。肩膀有舊傷者手肘不高過肩。每種 30 秒、2 回。做完深呼吸三次，感覺肺有沒有變大。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音樂的規格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音樂怎麼選，才能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幫忙放鬆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37178" cy="3774186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🥁節奏跟著目標走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3454298" cy="325297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動態伸展：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約 90 到 100 拍，熟悉、想跟著動的歌。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靜態伸展、按摩：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約 60 到 80 拍，接近放鬆時的心跳。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258" y="1417320"/>
            <a:ext cx="3637178" cy="3774186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68698" y="1508760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🎵熟悉、喜歡最重要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1892808"/>
            <a:ext cx="3454298" cy="325297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統合分析顯示音樂介入對壓力有效，而且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自己喜歡的音樂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效果不輸研究者挑的。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長輩熟的台語老歌、輕音樂、自然聲都可以。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417320"/>
            <a:ext cx="3637178" cy="3774186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88756" y="1508760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🔈音量與歌詞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8756" y="1892808"/>
            <a:ext cx="3454298" cy="325297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音量以「可以正常講話」為準。靜態階段選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沒有歌詞或很熟的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，才不會搶走注意力。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音樂是背景，呼吸才是主角。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74386"/>
            <a:ext cx="11277295" cy="934974"/>
          </a:xfrm>
          <a:prstGeom prst="roundRect">
            <a:avLst>
              <a:gd name="adj" fmla="val 5867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5374386"/>
            <a:ext cx="11002975" cy="93497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一句話：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動的時候用會想跟著動的歌，鬆的時候用會想閉眼睛的歌。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來源：de Witte M, et al. Effects of music interventions on stress-related outcomes. Health Psychol Rev 2020;14(2):294-324. 節拍範圍依該回顧與放鬆音樂研究常用區間整理。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講師用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今天的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音樂時間表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：講解不放，動作才放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7292" cy="4493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6813"/>
                <a:gridCol w="1282725"/>
                <a:gridCol w="3206813"/>
                <a:gridCol w="1282725"/>
                <a:gridCol w="2298216"/>
              </a:tblGrid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段落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分鐘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音樂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節拍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提示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開場、先量一下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輕背景或不放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到 70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音量小，可講話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按摩實證與頭頸地圖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講解段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自我按摩五站（兩人一組）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慢歌，無歌詞或熟悉老歌輕音樂版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到 70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到 3 首，一站換一段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徒手細節：手肘前臂、小腿、臉部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同上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到 70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到 3 首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按摩球：靠牆版＋坐姿版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同上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到 75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到 3 首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伸展實證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講解段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動態伸展六式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熟悉快歌，大家會想跟著動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90 到 100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 首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靜態六式＋頸軀幹、腿後、胸部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慢歌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到 80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 到 4 首，吐氣跟節拍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正念：定義、掃描、嘆息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不放，或自然聲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身體掃描全程安靜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一首歌的音樂伸展收尾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一首大家會唱的歌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先快後慢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跟著歌曲段落走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37443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再量一次、帶回家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輕背景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到 70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合計約 110 分鐘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6093460"/>
            <a:ext cx="11277295" cy="490220"/>
          </a:xfrm>
          <a:prstGeom prst="roundRect">
            <a:avLst>
              <a:gd name="adj" fmla="val 11191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6093460"/>
            <a:ext cx="11002975" cy="4902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原則：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有講解就不放，有動作才放，正念段全程安靜。自己喜歡、熟悉的音樂效果不輸研究者挑的（de Witte 2020）。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breathing_park.jpg"/>
          <p:cNvPicPr>
            <a:picLocks noChangeAspect="1"/>
          </p:cNvPicPr>
          <p:nvPr/>
        </p:nvPicPr>
        <p:blipFill>
          <a:blip r:embed="rId2"/>
          <a:srcRect t="15580" b="15580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第三部分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48640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2310"/>
              </a:spcAft>
            </a:pPr>
            <a:r>
              <a:rPr sz="66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566928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20"/>
              </a:spcAft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正念：把注意力帶回來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5486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D9CFEA"/>
                </a:solidFill>
                <a:latin typeface="Microsoft JhengHei"/>
                <a:ea typeface="Microsoft JhengHei"/>
                <a:cs typeface="Microsoft JhengHei"/>
              </a:rPr>
              <a:t>剛剛按摩時「只注意到手的感覺」的那一刻，就是正念。它可以練，也量得到。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先弄清楚名詞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什麼是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正念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？什麼是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正念減壓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547207" cy="4892040"/>
          </a:xfrm>
          <a:prstGeom prst="roundRect">
            <a:avLst>
              <a:gd name="adj" fmla="val 1121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36432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🧠正念（Mindfulness）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5364327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把注意力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有意地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放在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當下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正在發生的事，而且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不急著評價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。三個要素缺一不可。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有意地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是我決定要注意，不是恍神。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當下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注意現在的呼吸、身體、聲音，不是過去與未來。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不評價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肩膀緊就是緊，不加一句「我真糟」。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它不是：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放空、正向思考、宗教儀式，也不是「把念頭趕走」。念頭來了，看見它，再回到呼吸，這一來一回就是練習。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1417320"/>
            <a:ext cx="5547207" cy="4892040"/>
          </a:xfrm>
          <a:prstGeom prst="roundRect">
            <a:avLst>
              <a:gd name="adj" fmla="val 1121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78727" y="1508760"/>
            <a:ext cx="5364327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🏥正念減壓（MBSR）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892808"/>
            <a:ext cx="5364327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1979 年卡巴金（Jon Kabat-Zinn）在美國麻州大學醫學中心為慢性病與慢性疼痛患者設計的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標準化課程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，把正念從宗教脈絡拿出來，放進醫院。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標準格式：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8 週、每週一次約 2.5 小時團體課、一天靜修日、每天在家練習約 45 分鐘。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練什麼：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身體掃描、覺察呼吸的靜坐、正念瑜伽（緩慢伸展）、正念行走，以及把覺察帶進吃飯、洗碗等日常。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因為格式固定，全世界的研究做得最多，所以「正念有沒有效」的證據多半來自它。衍生版本 MBCT 用於預防憂鬱復發。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來源：Kabat-Zinn J. (1990) Full Catastrophe Living；Kabat-Zinn J. (2003) Clin Psychol Sci Pract 10(2):144-156。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不用很專業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一定要上八週課嗎？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不用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，但要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每天一點點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82163" cy="489204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上課時數長短，效果差不多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2499283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整理多個 MBSR 研究後發現，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課堂時數與效果量沒有顯著相關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，縮短版的課程仍有效。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Carmody &amp; Baer 2009, J Clin Psychol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417320"/>
            <a:ext cx="2682163" cy="489204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13683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每天 13 分鐘，八週就有差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892808"/>
            <a:ext cx="2499283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沒有冥想經驗的成人每天跟著引導練 13 分鐘，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8 週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後注意力、記憶、情緒調節與焦慮都改善；4 週時還看不出來，所以要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持續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Basso 等 2019, Behav Brain 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417320"/>
            <a:ext cx="2682163" cy="489204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78727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連洗碗都可以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892808"/>
            <a:ext cx="2499283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只是「專心感受水溫、泡沫、碗的觸感」地洗碗，緊張感下降約 27%、靈感上升約 25%。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Hanley 等 2015, Mindfulness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331" y="1417320"/>
            <a:ext cx="2682163" cy="4892040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3771" y="1508760"/>
            <a:ext cx="2499283" cy="61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🏠日常生活怎麼結合：挑一個就好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1" y="2124456"/>
            <a:ext cx="2499283" cy="413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刷牙、洗碗、洗澡</a:t>
            </a: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：一次只做這一件事，注意觸感、溫度、聲音。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紅燈、等車、排隊</a:t>
            </a: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：做三次慢呼吸，吐氣比吸氣長。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吃飯前三口</a:t>
            </a: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：放慢，注意味道與咀嚼。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走路</a:t>
            </a: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：感覺腳底踩地的感覺，走到門口為止。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心煩的時候</a:t>
            </a: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：STOP 四步，說出情緒的名字。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• </a:t>
            </a: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睡前</a:t>
            </a: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：躺著做三分鐘身體掃描。</a:t>
            </a:r>
          </a:p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習慣綁定：</a:t>
            </a: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把它接在一個你本來就會做的事後面，例如「倒完咖啡 → 三次呼吸」。分心不是失敗，發現分心就是練到了。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來源：Carmody J, Baer RA. J Clin Psychol 2009;65(6):627-638. Basso JC, et al. Behav Brain Res 2019;356:208-220. Hanley AW, et al. Mindfulness 2015;6:1095-1103.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大哉問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正念真的有效嗎？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108960" cy="4892040"/>
          </a:xfrm>
          <a:prstGeom prst="roundRect">
            <a:avLst>
              <a:gd name="adj" fmla="val 1764"/>
            </a:avLst>
          </a:prstGeom>
          <a:solidFill>
            <a:srgbClr val="2B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260"/>
              </a:spcAft>
            </a:pPr>
            <a:r>
              <a:rPr sz="36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有效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743200" cy="16230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2000" b="1">
                <a:solidFill>
                  <a:srgbClr val="C9B3E6"/>
                </a:solidFill>
                <a:latin typeface="Microsoft JhengHei"/>
                <a:ea typeface="Microsoft JhengHei"/>
                <a:cs typeface="Microsoft JhengHei"/>
              </a:rPr>
              <a:t>但是中等效果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50384"/>
            <a:ext cx="2743200" cy="176113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DCD3EA"/>
                </a:solidFill>
                <a:latin typeface="Microsoft JhengHei"/>
                <a:ea typeface="Microsoft JhengHei"/>
                <a:cs typeface="Microsoft JhengHei"/>
              </a:rPr>
              <a:t>對焦慮、憂鬱、壓力有一致的改善，效果大小屬「中等」，不是萬靈丹。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417320"/>
            <a:ext cx="7985455" cy="1557528"/>
          </a:xfrm>
          <a:prstGeom prst="roundRect">
            <a:avLst>
              <a:gd name="adj" fmla="val 352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840479" y="1508760"/>
            <a:ext cx="780257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Goyal 等 2014・JAMA Internal Medicine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1892808"/>
            <a:ext cx="7802575" cy="10363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整理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47 個隨機試驗、3,515 人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。正念冥想對焦慮（效果量約 0.38）、憂鬱（約 0.30）、疼痛有中等程度的證據。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084575"/>
            <a:ext cx="7985455" cy="1557528"/>
          </a:xfrm>
          <a:prstGeom prst="roundRect">
            <a:avLst>
              <a:gd name="adj" fmla="val 352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840479" y="3176016"/>
            <a:ext cx="780257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Khoury 等 2015・J Psychosom 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3560064"/>
            <a:ext cx="7802575" cy="1036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專看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健康人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的正念減壓（MBSR）：對壓力、焦慮、憂鬱有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中等程度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的改善，各研究差異大。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751832"/>
            <a:ext cx="7985455" cy="1557528"/>
          </a:xfrm>
          <a:prstGeom prst="roundRect">
            <a:avLst>
              <a:gd name="adj" fmla="val 3522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840479" y="4843271"/>
            <a:ext cx="7802575" cy="1420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為什麼是中等？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因為受試者多是健康人，起點本來就不高。用在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焦慮症與情緒疾患患者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身上，效果量達 0.97 與 0.95，屬於大效果（Hofmann 等 2010，39 研究）。效果量 0.2 小、0.5 中、0.8 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來源：Goyal M, et al. JAMA Intern Med 2014;174(3):357-368. Khoury B, et al. J Psychosom Res 2015;78(6):519-528. Hofmann SG, et al. J Consult Clin Psychol 2010;78(2):169-183.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覺察的定義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覺察＝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有意地注意現在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，不急著評價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37178" cy="4892040"/>
          </a:xfrm>
          <a:prstGeom prst="roundRect">
            <a:avLst>
              <a:gd name="adj" fmla="val 1508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💬三種狀態，差在哪裡？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3454298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想事情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肩膀痠的時候：「等一下還要去買菜、接孫子……」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評價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「我怎麼又痠了，年紀大了真沒用。」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覺察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「右邊肩膀有一股緊緊的、熱熱的感覺，呼吸的時候它會動。」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覺察只有第三種。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它描述，不解釋，也不罵自己。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258" y="1417320"/>
            <a:ext cx="3637178" cy="489204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277258" y="2004364"/>
            <a:ext cx="3637178" cy="1663293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4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7258" y="3716578"/>
            <a:ext cx="363717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清醒時間，心思不在當下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4418" y="4450384"/>
            <a:ext cx="3362858" cy="176113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哈佛用手機追蹤 2,250 人，發現心思遊蕩時，人比較不快樂，不管在想什麼。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417320"/>
            <a:ext cx="3637178" cy="489204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88756" y="1508760"/>
            <a:ext cx="3454298" cy="4754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Kabat-Zinn 的原話：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「以特定的方式去注意：有意地、在當下、不帶評價。」覺察是一種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可以練的肌肉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，不是一種天分。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來源：Killingsworth MA, Gilbert DT. Science 2010;330:932. Kabat-Zinn J. (1994) Wherever You Go, There You Are.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自我檢核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我怎麼知道自己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有在覺察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？五個訊號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5547207" cy="15697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364327" cy="1569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☐ </a:t>
            </a: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說得出身體感覺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：現在能講出三個身體感覺（例如腳底壓著地、呼吸在哪裡、哪裡緊）。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7287" y="1417320"/>
            <a:ext cx="5547207" cy="15697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97015" y="1417320"/>
            <a:ext cx="5364327" cy="1569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☐ </a:t>
            </a: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抓得到跑掉的那一刻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：發現自己剛剛在想別的事，並且回來了。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78480"/>
            <a:ext cx="5547207" cy="15697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3078480"/>
            <a:ext cx="5364327" cy="1569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☐ </a:t>
            </a: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用描述代替批評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：心裡出現的是「肩膀緊緊的」，不是「我怎麼這麼糟」。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3078480"/>
            <a:ext cx="5547207" cy="15697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97015" y="3078480"/>
            <a:ext cx="5364327" cy="1569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☐ </a:t>
            </a: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感覺來了不急著反應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：有不舒服，但可以多看它幾秒再決定要不要動。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39640"/>
            <a:ext cx="5547207" cy="15697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6928" y="4739640"/>
            <a:ext cx="5364327" cy="1569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☐ </a:t>
            </a: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知道自己正在做什麼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：吃飯知道在吃飯，走路知道在走路，不是自動駕駛。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4739640"/>
            <a:ext cx="5547207" cy="15697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97015" y="4739640"/>
            <a:ext cx="5364327" cy="1569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☐ </a:t>
            </a: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能分辨想法和事實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：「我一定做不好」是一個念頭，不是事情的結果。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來源：改寫自 Baer RA, et al. (2006) Five Facet Mindfulness Questionnaire, Assessment 13(1):27-45 的五個面向。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覺察的步驟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四步口訣：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S・T・O・P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82163" cy="3774186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Stop 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2499283" cy="325297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不管在做什麼，先停一秒。手放下、腳踩穩。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口訣：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「先停。」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417320"/>
            <a:ext cx="2682163" cy="3774186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13683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Take a breath 吸一口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892808"/>
            <a:ext cx="2499283" cy="325297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慢慢吸氣、更慢吐氣。吐氣比吸氣長，副交感就會啟動。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口訣：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「吐長一點。」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417320"/>
            <a:ext cx="2682163" cy="3774186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78727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Observe 看一看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892808"/>
            <a:ext cx="2499283" cy="325297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身體哪裡緊？心裡是什麼情緒？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說出名字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：「我現在很煩」「肩膀很緊」。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口訣：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「它叫什麼？」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331" y="1417320"/>
            <a:ext cx="2682163" cy="3774186"/>
          </a:xfrm>
          <a:prstGeom prst="roundRect">
            <a:avLst>
              <a:gd name="adj" fmla="val 2045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3771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Proceed 再繼續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1" y="1892808"/>
            <a:ext cx="2499283" cy="325297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帶著剛剛看到的，決定下一步：伸展一下、喝口水、或就繼續做。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口訣：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「我選擇。」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74386"/>
            <a:ext cx="11277295" cy="934974"/>
          </a:xfrm>
          <a:prstGeom prst="roundRect">
            <a:avLst>
              <a:gd name="adj" fmla="val 5867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5374386"/>
            <a:ext cx="11002975" cy="93497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為什麼要說出名字？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腦造影研究發現，把情緒用語言標記出來，杏仁核（警報中心）的活動會下降，前額葉會接手。這叫「情緒標記」（affect labeling）。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來源：Lieberman MD, et al. Psychol Sci 2007;18(5):421-428. STOP 口訣出自正念減壓（MBSR）課程常用教材。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⑥ 🔇 不放音樂或自然聲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六十秒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身體掃描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閉眼或看著地板都可以。不用放鬆它，只要注意它。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7295" cy="4709160"/>
          </a:xfrm>
          <a:prstGeom prst="roundRect">
            <a:avLst>
              <a:gd name="adj" fmla="val 1165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728655" cy="4709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🎯 </a:t>
            </a: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互動：六十秒計時。每十秒換一個部位：頭與臉 → 肩頸 → 胸與呼吸 → 肚子 → 雙手 → 雙腳。只要注意，不用放鬆它。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覺察的實證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覺察不是玄學，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腦和身體都量得到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82163" cy="489204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🧠說出情緒，警報就降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2499283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用語言標記情緒時，杏仁核活動下降、右腹外側前額葉活動上升。這是「說出來就好一點」的腦科學版本。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Lieberman 2007, Psychol Sci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2243" y="1417320"/>
            <a:ext cx="2682163" cy="489204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413683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🧘八週課程，壓力中等改善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892808"/>
            <a:ext cx="2499283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正念減壓（MBSR）在健康人身上對壓力有中等效果；對焦慮、憂鬱也一致有效。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Khoury 2015, J Psychosom Res；Goyal 2014, JAMA Intern 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417320"/>
            <a:ext cx="2682163" cy="489204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78727" y="1508760"/>
            <a:ext cx="2499283" cy="6156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🌬️每天五分鐘呼吸，一個月見效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124456"/>
            <a:ext cx="2499283" cy="413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隨機試驗比較三種呼吸法與正念冥想：每天五分鐘的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循環嘆息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（兩次吸、一次長吐）改善心情、降低呼吸速率的效果最好。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Balban 2023, Cell Rep 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331" y="1417320"/>
            <a:ext cx="2682163" cy="489204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3771" y="1508760"/>
            <a:ext cx="2499283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🫁呼吸訓練降壓力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1" y="1892808"/>
            <a:ext cx="2499283" cy="43708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12 個隨機試驗、785 人的統合分析：呼吸練習降低自評壓力，效果量約 0.35（小到中）。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Fincham 2023, Sci 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來源：Lieberman MD, et al. 2007. Khoury B, et al. 2015. Balban MY, et al. Cell Rep Med 2023;4(1):100895. Fincham GW, et al. Sci Rep 2023;13:432.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⑦ 🔇 不放音樂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循環嘆息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：兩次吸，一次長吐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892040"/>
          </a:xfrm>
          <a:prstGeom prst="roundRect">
            <a:avLst>
              <a:gd name="adj" fmla="val 1121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28655" cy="4892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🎯 </a:t>
            </a: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互動：循環嘆息五輪。鼻子吸氣七分滿 → 再補吸一小口 → 嘴巴慢慢吐到底（吐氣比吸氣長）。頭暈就停，改成一般慢呼吸。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來源：Balban MY, Neri E, Kogon MM, et al. Brief structured respiration practices enhance mood and reduce physiological arousal. Cell Rep Med 2023.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實作 ⑧ 收尾　｜　🎵 🎵 一首大家會唱的歌・約 4 到 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收尾：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一首歌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，把今天的伸展串起來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7627409" cy="5166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990"/>
                <a:gridCol w="1221137"/>
                <a:gridCol w="3381610"/>
                <a:gridCol w="1878672"/>
              </a:tblGrid>
              <a:tr h="7380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歌曲段落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大約時間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動作（動態 → 靜態 → 嘆氣）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口令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</a:tr>
              <a:tr h="7380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0:00 到 0:20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坐直或站穩，三次慢呼吸，吐氣比吸氣長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「聽前奏，吐長一點」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80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主歌 A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0:20 到 1:00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肩膀畫大圓 8 下、手臂前後擺盪 8 下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「把背包甩掉」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7380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副歌 1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1:00 到 1:40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原地踏步抬膝＋轉體看後面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「看看後面有誰」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7380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主歌 B／間奏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1:40 到 2:30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頸側伸展，左右各停 20 秒（靜態）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「肩膀往地板沉」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80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副歌 2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2:30 到 3:10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側彎摘果子＋開胸擴背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「摘最上面那顆」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7380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尾奏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3:10 到結束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雙手上舉，吐氣「哈」整身放下，三次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「把今天的重量放下」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67490" y="1417320"/>
            <a:ext cx="3467004" cy="5166360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eniors_arms.jpg"/>
          <p:cNvPicPr>
            <a:picLocks noChangeAspect="1"/>
          </p:cNvPicPr>
          <p:nvPr/>
        </p:nvPicPr>
        <p:blipFill>
          <a:blip r:embed="rId2"/>
          <a:srcRect l="23560" r="23560"/>
          <a:stretch>
            <a:fillRect/>
          </a:stretch>
        </p:blipFill>
        <p:spPr>
          <a:xfrm>
            <a:off x="8340642" y="1490472"/>
            <a:ext cx="3320700" cy="41849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58930" y="5693664"/>
            <a:ext cx="3284124" cy="835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55"/>
              </a:spcAft>
            </a:pPr>
            <a:r>
              <a:rPr sz="13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歌怎麼挑</a:t>
            </a:r>
            <a:r>
              <a:rPr sz="13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：約 4 分鐘、大家會唱、中等節奏（約 80 到 90 拍）。唱出來也算呼吸練習。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把三個答案串起來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方法不同，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按的是同一顆關機鍵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37178" cy="3806698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🫀啟動副交感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3454298" cy="328549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慢呼吸、中等力道的觸摸、緩慢伸展，都會提高迷走神經活性，表現為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心率變異（HRV）上升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、心跳下降。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HRV 可以想成「心跳的彈性」，彈性好，緊張後才回得來。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258" y="1417320"/>
            <a:ext cx="3637178" cy="3806698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68698" y="1508760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🧠把注意力拉回身體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1892808"/>
            <a:ext cx="3454298" cy="328549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壓力多半來自「想過去、想未來」。注意呼吸、注意肌肉被拉開的感覺，大腦的預設模式網絡就會安靜下來。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這就是覺察在做的事。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417320"/>
            <a:ext cx="3637178" cy="3806698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88756" y="1508760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📉把身體訊號調低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8756" y="1892808"/>
            <a:ext cx="3454298" cy="328549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肌肉放鬆、呼吸變慢，身體回傳給大腦的訊號是「沒事了」，大腦才願意解除備戰。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所以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身體先放鬆，情緒才跟得上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6898"/>
            <a:ext cx="11277295" cy="902462"/>
          </a:xfrm>
          <a:prstGeom prst="roundRect">
            <a:avLst>
              <a:gd name="adj" fmla="val 6079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5406898"/>
            <a:ext cx="11002975" cy="90246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今天的設計原則：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慢、配合呼吸、中等力道、把注意力放在身體上。每一個動作都是在練這四件事。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來源：Thayer JF, Lane RD. (2009) Neurosci Biobehav Rev. Porges SW. (2007) Biol Psychol. 綜合整理。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回答一個好問題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910"/>
              </a:spcAft>
            </a:pPr>
            <a:r>
              <a:rPr sz="26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那什麼才是「</a:t>
            </a:r>
            <a:r>
              <a:rPr sz="26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效果大</a:t>
            </a:r>
            <a:r>
              <a:rPr sz="26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」？效果量 0.8 以上的研究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7293" cy="3959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12"/>
                <a:gridCol w="786928"/>
                <a:gridCol w="5084770"/>
                <a:gridCol w="2905583"/>
              </a:tblGrid>
              <a:tr h="56569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效果量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研究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和今天的關係</a:t>
                      </a:r>
                    </a:p>
                  </a:txBody>
                  <a:tcPr marL="54864" marR="54864" marT="27432" marB="27432">
                    <a:solidFill>
                      <a:srgbClr val="2B1B3D"/>
                    </a:solidFill>
                  </a:tcPr>
                </a:tc>
              </a:tr>
              <a:tr h="56569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正念用在焦慮症、情緒疾患患者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0.97 / 0.95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39 研究、1,140 人。健康人約 0.5，患者約 1.0：症狀越明顯，改善空間越大（Hofmann 2010）。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同一套方法，起點不同結果不同；照顧者常是高起點。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56569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心率變異生理回饋（每分鐘約 6 次的慢呼吸）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0.81 到 0.83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 研究、484 人。自評壓力與焦慮大幅下降，與次數、有無焦慮症無關（Goessl 2017）。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今天會做吸 4 秒、吐 6 秒的慢呼吸，不用儀器。</a:t>
                      </a:r>
                    </a:p>
                  </a:txBody>
                  <a:tcPr marL="54864" marR="54864" marT="27432" marB="27432">
                    <a:solidFill>
                      <a:srgbClr val="EEE7F7"/>
                    </a:solidFill>
                  </a:tcPr>
                </a:tc>
              </a:tr>
              <a:tr h="56569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認知行為型壓力管理課程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約 1.16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36 研究、55 種介入。整體 0.53，認知行為型遠高於放鬆型與組織型（Richardson &amp; Rothstein 2008）。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有人帶、有結構、有作業。STOP 是它的入門版。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69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跳舞（對憂鬱）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0.96 研究少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218 試驗。走路慢跑 0.62、瑜伽 0.55、肌力 0.49；跳舞最大但只有少數小型研究，確定性低（Noetel 2024）。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今天會做動態伸展配音樂，是跳舞的低門檻版。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69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觸摸與按摩（對皮質醇）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212 研究。皮質醇 0.78、疼痛 0.69、焦慮 0.64，頭臉部更好（Packheiser 2024）。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今天會做自我按摩五站，頭與後頸優先。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69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5E4B8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音樂治療（治療師帶）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比自己聽音樂的 0.38 到 0.55 大（de Witte 2022）。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1B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第三堂藝術輔療會做。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560060"/>
            <a:ext cx="11277295" cy="749300"/>
          </a:xfrm>
          <a:prstGeom prst="roundRect">
            <a:avLst>
              <a:gd name="adj" fmla="val 7322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5560060"/>
            <a:ext cx="11002975" cy="7493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效果大的三個共同特徵：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起點高（症狀明顯的人進步多）、有人帶且有結構、身體直接參與（呼吸、跳舞、觸摸）。今天的課就是照這三點設計的。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來源：Hofmann SG, et al. 2010. Goessl VC, et al. Psychol Med 2017;47(15):2578-2586. Richardson KM, Rothstein HR. J Occup Health Psychol 2008;13(1):69-93. Noetel M, et al. BMJ 2024;384:e075847. Packheiser J, et al. 2024. de Witte M, et al. Health Psychol Rev 2022;16(1):134-159.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研究怎麼排名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依統合分析效果量排序的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前十名減壓技巧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63040"/>
            <a:ext cx="329184" cy="329184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99032"/>
            <a:ext cx="4998567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按摩與觸摸　【今天會做】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　效果量 0.59 到 0.78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91640"/>
            <a:ext cx="4998567" cy="73152"/>
          </a:xfrm>
          <a:prstGeom prst="rect">
            <a:avLst/>
          </a:pr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3898882" cy="73152"/>
          </a:xfrm>
          <a:prstGeom prst="rect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4998567" cy="55412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焦慮、憂鬱、皮質醇（Packheiser 2024，212 篇）</a:t>
            </a:r>
          </a:p>
        </p:txBody>
      </p:sp>
      <p:sp>
        <p:nvSpPr>
          <p:cNvPr id="10" name="Oval 9"/>
          <p:cNvSpPr/>
          <p:nvPr/>
        </p:nvSpPr>
        <p:spPr>
          <a:xfrm>
            <a:off x="6278727" y="1463040"/>
            <a:ext cx="329184" cy="329184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1399032"/>
            <a:ext cx="4998567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規律身體活動　【今天會做】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　效果量 0.42 到 0.60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0207" y="1691640"/>
            <a:ext cx="4998567" cy="73152"/>
          </a:xfrm>
          <a:prstGeom prst="rect">
            <a:avLst/>
          </a:pr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690207" y="1691640"/>
            <a:ext cx="2999140" cy="73152"/>
          </a:xfrm>
          <a:prstGeom prst="rect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90207" y="1764792"/>
            <a:ext cx="4998567" cy="55412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心理困擾、焦慮、憂鬱（Singh 2023，1,039 試驗）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456078"/>
            <a:ext cx="329184" cy="329184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92070"/>
            <a:ext cx="4998567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正念減壓 MBSR　【今天會做】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　效果量 約 0.5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684678"/>
            <a:ext cx="4998567" cy="73152"/>
          </a:xfrm>
          <a:prstGeom prst="rect">
            <a:avLst/>
          </a:pr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68680" y="2684678"/>
            <a:ext cx="2499283" cy="73152"/>
          </a:xfrm>
          <a:prstGeom prst="rect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2757830"/>
            <a:ext cx="4998567" cy="55412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壓力、焦慮（Khoury 2015；Goyal 2014）</a:t>
            </a:r>
          </a:p>
        </p:txBody>
      </p:sp>
      <p:sp>
        <p:nvSpPr>
          <p:cNvPr id="20" name="Oval 19"/>
          <p:cNvSpPr/>
          <p:nvPr/>
        </p:nvSpPr>
        <p:spPr>
          <a:xfrm>
            <a:off x="6278727" y="2456078"/>
            <a:ext cx="329184" cy="329184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0207" y="2392070"/>
            <a:ext cx="4998567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音樂　【今天會做】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　效果量 0.38 到 0.55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0207" y="2684678"/>
            <a:ext cx="4998567" cy="73152"/>
          </a:xfrm>
          <a:prstGeom prst="rect">
            <a:avLst/>
          </a:pr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90207" y="2684678"/>
            <a:ext cx="2749212" cy="73152"/>
          </a:xfrm>
          <a:prstGeom prst="rect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90207" y="2757830"/>
            <a:ext cx="4998567" cy="55412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心理與生理壓力指標（de Witte 2020，104 RCT）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3449116"/>
            <a:ext cx="329184" cy="329184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385108"/>
            <a:ext cx="4998567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放鬆訓練（漸進式肌肉放鬆等）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　效果量 約 0.5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677716"/>
            <a:ext cx="4998567" cy="73152"/>
          </a:xfrm>
          <a:prstGeom prst="rect">
            <a:avLst/>
          </a:pr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68680" y="3677716"/>
            <a:ext cx="2499283" cy="73152"/>
          </a:xfrm>
          <a:prstGeom prst="rect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8680" y="3750868"/>
            <a:ext cx="4998567" cy="55412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焦慮，中等效果（Manzoni 2008 系統性回顧）</a:t>
            </a:r>
          </a:p>
        </p:txBody>
      </p:sp>
      <p:sp>
        <p:nvSpPr>
          <p:cNvPr id="30" name="Oval 29"/>
          <p:cNvSpPr/>
          <p:nvPr/>
        </p:nvSpPr>
        <p:spPr>
          <a:xfrm>
            <a:off x="6278727" y="3449116"/>
            <a:ext cx="329184" cy="329184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0207" y="3385108"/>
            <a:ext cx="4998567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瑜伽、太極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　效果量 中等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90207" y="3677716"/>
            <a:ext cx="4998567" cy="73152"/>
          </a:xfrm>
          <a:prstGeom prst="rect">
            <a:avLst/>
          </a:pr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690207" y="3677716"/>
            <a:ext cx="2249355" cy="73152"/>
          </a:xfrm>
          <a:prstGeom prst="rect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90207" y="3750868"/>
            <a:ext cx="4998567" cy="55412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皮質醇、血壓、心跳（Pascoe 2017 統合分析）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4442155"/>
            <a:ext cx="329184" cy="329184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378147"/>
            <a:ext cx="4998567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呼吸練習　【今天會做】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　效果量 約 0.35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670755"/>
            <a:ext cx="4998567" cy="73152"/>
          </a:xfrm>
          <a:prstGeom prst="rect">
            <a:avLst/>
          </a:pr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68680" y="4670755"/>
            <a:ext cx="1749498" cy="73152"/>
          </a:xfrm>
          <a:prstGeom prst="rect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8680" y="4743907"/>
            <a:ext cx="4998567" cy="55412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自評壓力（Fincham 2023，12 RCT）；每日五分鐘循環嘆息（Balban 2023）</a:t>
            </a:r>
          </a:p>
        </p:txBody>
      </p:sp>
      <p:sp>
        <p:nvSpPr>
          <p:cNvPr id="40" name="Oval 39"/>
          <p:cNvSpPr/>
          <p:nvPr/>
        </p:nvSpPr>
        <p:spPr>
          <a:xfrm>
            <a:off x="6278727" y="4442155"/>
            <a:ext cx="329184" cy="329184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0207" y="4378147"/>
            <a:ext cx="4998567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伸展（持續數週）　【今天會做】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　效果量 RCT 支持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90207" y="4670755"/>
            <a:ext cx="4998567" cy="73152"/>
          </a:xfrm>
          <a:prstGeom prst="rect">
            <a:avLst/>
          </a:pr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690207" y="4670755"/>
            <a:ext cx="1599541" cy="73152"/>
          </a:xfrm>
          <a:prstGeom prst="rect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690207" y="4743907"/>
            <a:ext cx="4998567" cy="55412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焦慮、倦怠下降、HRV 上升（Montero-Marín 2013；Mueck-Weymann 2004）</a:t>
            </a:r>
          </a:p>
        </p:txBody>
      </p:sp>
      <p:sp>
        <p:nvSpPr>
          <p:cNvPr id="45" name="Oval 44"/>
          <p:cNvSpPr/>
          <p:nvPr/>
        </p:nvSpPr>
        <p:spPr>
          <a:xfrm>
            <a:off x="457200" y="5435193"/>
            <a:ext cx="329184" cy="329184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371185"/>
            <a:ext cx="4998567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接觸大自然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　效果量 20 到 30 分鐘最有效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5663793"/>
            <a:ext cx="4998567" cy="73152"/>
          </a:xfrm>
          <a:prstGeom prst="rect">
            <a:avLst/>
          </a:pr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868680" y="5663793"/>
            <a:ext cx="1499570" cy="73152"/>
          </a:xfrm>
          <a:prstGeom prst="rect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68680" y="5736945"/>
            <a:ext cx="4998567" cy="55412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唾液皮質醇下降幅度最大（Hunter 2019）</a:t>
            </a:r>
          </a:p>
        </p:txBody>
      </p:sp>
      <p:sp>
        <p:nvSpPr>
          <p:cNvPr id="50" name="Oval 49"/>
          <p:cNvSpPr/>
          <p:nvPr/>
        </p:nvSpPr>
        <p:spPr>
          <a:xfrm>
            <a:off x="6278727" y="5435193"/>
            <a:ext cx="329184" cy="329184"/>
          </a:xfrm>
          <a:prstGeom prst="ellipse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90207" y="5371185"/>
            <a:ext cx="4998567" cy="274320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84"/>
              </a:spcAft>
            </a:pPr>
            <a:r>
              <a:rPr sz="11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社會連結　【今天會做】</a:t>
            </a:r>
            <a:r>
              <a:rPr sz="11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　效果量 一致但難量化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90207" y="5663793"/>
            <a:ext cx="4998567" cy="73152"/>
          </a:xfrm>
          <a:prstGeom prst="rect">
            <a:avLst/>
          </a:prstGeom>
          <a:solidFill>
            <a:srgbClr val="E7E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690207" y="5663793"/>
            <a:ext cx="1399598" cy="73152"/>
          </a:xfrm>
          <a:prstGeom prst="rect">
            <a:avLst/>
          </a:prstGeom>
          <a:solidFill>
            <a:srgbClr val="7B4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690207" y="5736945"/>
            <a:ext cx="4998567" cy="554126"/>
          </a:xfrm>
          <a:prstGeom prst="rect">
            <a:avLst/>
          </a:prstGeom>
          <a:noFill/>
        </p:spPr>
        <p:txBody>
          <a:bodyPr wrap="square" lIns="18288" rIns="18288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人際支持緩衝壓力；社交連結與存活率相關（Holt-Lunstad 2010）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來源：Packheiser 2024；Singh 2023；Khoury 2015；de Witte 2020（Health Psychol Rev，104 個 RCT）；Manzoni 2008（BMC Psychiatry）；Pascoe 2017（Psychoneuroendocrinology）；Fincham 2023（Sci Rep）；Montero-Marín 2013；Hunter 2019（Front Psychol）；Holt-Lunstad 2010（PLoS Med）。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榜單的三個提醒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最好的技巧，是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你會持續做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的那一個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3637178" cy="3970274"/>
          </a:xfrm>
          <a:prstGeom prst="roundRect">
            <a:avLst>
              <a:gd name="adj" fmla="val 1508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📏效果量是「平均」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92808"/>
            <a:ext cx="3454298" cy="344906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0.5 的意思是：有做的人平均比沒做的人好半個標準差。有人幫助很大，有人沒感覺。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所以要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自己試、自己量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，今天最後會再量一次。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7258" y="1417320"/>
            <a:ext cx="3637178" cy="3970274"/>
          </a:xfrm>
          <a:prstGeom prst="roundRect">
            <a:avLst>
              <a:gd name="adj" fmla="val 1508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368698" y="1508760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🔁次數比時間長重要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1892808"/>
            <a:ext cx="3454298" cy="344906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觸摸研究發現：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做幾次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比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每次做多久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更能預測效果。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每天十分鐘，勝過每月一次兩小時。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417320"/>
            <a:ext cx="3637178" cy="3970274"/>
          </a:xfrm>
          <a:prstGeom prst="roundRect">
            <a:avLst>
              <a:gd name="adj" fmla="val 1508"/>
            </a:avLst>
          </a:prstGeom>
          <a:solidFill>
            <a:srgbClr val="EEE7F7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88756" y="1508760"/>
            <a:ext cx="345429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🧩組合比單一強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8756" y="1892808"/>
            <a:ext cx="3454298" cy="344906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今天的課刻意把</a:t>
            </a: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覺察 ＋ 呼吸 ＋ 伸展 ＋ 按摩 ＋ 音樂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疊在一起。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它們按的是同一顆關機鍵，疊起來更容易按到。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70474"/>
            <a:ext cx="11277295" cy="1013206"/>
          </a:xfrm>
          <a:prstGeom prst="roundRect">
            <a:avLst>
              <a:gd name="adj" fmla="val 5414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5570474"/>
            <a:ext cx="11002975" cy="101320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問自己一句：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榜單上哪一個，是我明天早上起來真的會做的？那個就是你的第一名。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結束之前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現在，你的身體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緊繃幾分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同樣閉眼三秒。感覺肩膀、下巴、眉頭。不用比別人，只跟一開始的自己比。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7295" cy="2567940"/>
          </a:xfrm>
          <a:prstGeom prst="roundRect">
            <a:avLst>
              <a:gd name="adj" fmla="val 2136"/>
            </a:avLst>
          </a:prstGeom>
          <a:solidFill>
            <a:srgbClr val="F1EDF8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728655" cy="25679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560"/>
              </a:spcAft>
            </a:pP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🎯 </a:t>
            </a:r>
            <a:r>
              <a:rPr sz="16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互動：請每個人在心裡選一個 0 到 10 的數字（0 完全放鬆，10 緊到不行），講師點名幾位說出來。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625340"/>
            <a:ext cx="11277295" cy="1958340"/>
          </a:xfrm>
          <a:prstGeom prst="roundRect">
            <a:avLst>
              <a:gd name="adj" fmla="val 2801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4625340"/>
            <a:ext cx="11002975" cy="19583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沒變也沒關係：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能誠實說出「我還是 7 分」，本身就是覺察。有些人的身體需要多做幾次才會相信「可以放鬆了」。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帶回家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每天</a:t>
            </a:r>
            <a:r>
              <a:rPr sz="30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十分鐘</a:t>
            </a: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的放鬆菜單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82163" cy="38531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879701"/>
            <a:ext cx="2682163" cy="131008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295"/>
              </a:spcAft>
            </a:pPr>
            <a:r>
              <a:rPr sz="37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1分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28314"/>
            <a:ext cx="268216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STOP 覺察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06291"/>
            <a:ext cx="2407843" cy="1387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停、吸一口、看一看、說出名字。隨時隨地。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2243" y="1417320"/>
            <a:ext cx="2682163" cy="38531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22243" y="1879701"/>
            <a:ext cx="2682163" cy="131008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295"/>
              </a:spcAft>
            </a:pPr>
            <a:r>
              <a:rPr sz="37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2分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2243" y="3228314"/>
            <a:ext cx="268216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循環嘆息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806291"/>
            <a:ext cx="2407843" cy="1387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兩次吸、一次長吐，十輪。頭暈就改慢呼吸。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1417320"/>
            <a:ext cx="2682163" cy="38531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87287" y="1879701"/>
            <a:ext cx="2682163" cy="131008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295"/>
              </a:spcAft>
            </a:pPr>
            <a:r>
              <a:rPr sz="37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4分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228314"/>
            <a:ext cx="268216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伸展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806291"/>
            <a:ext cx="2407843" cy="1387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動態 1 分鐘叫醒，靜態 3 式各 40 秒配吐氣。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331" y="1417320"/>
            <a:ext cx="2682163" cy="385318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52331" y="1879701"/>
            <a:ext cx="2682163" cy="1310081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1295"/>
              </a:spcAft>
            </a:pPr>
            <a:r>
              <a:rPr sz="37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3分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331" y="3228314"/>
            <a:ext cx="2682163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89"/>
              </a:spcAft>
            </a:pPr>
            <a:r>
              <a:rPr sz="1400" b="1">
                <a:solidFill>
                  <a:srgbClr val="5E4B8B"/>
                </a:solidFill>
                <a:latin typeface="Microsoft JhengHei"/>
                <a:ea typeface="Microsoft JhengHei"/>
                <a:cs typeface="Microsoft JhengHei"/>
              </a:rPr>
              <a:t>自我按摩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491" y="3806291"/>
            <a:ext cx="2407843" cy="13871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89"/>
              </a:spcAft>
            </a:pPr>
            <a:r>
              <a:rPr sz="14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頭皮、後頸、肩膀各一分鐘，中等力道、慢。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53380"/>
            <a:ext cx="11277295" cy="855980"/>
          </a:xfrm>
          <a:prstGeom prst="roundRect">
            <a:avLst>
              <a:gd name="adj" fmla="val 6409"/>
            </a:avLst>
          </a:prstGeom>
          <a:solidFill>
            <a:srgbClr val="F1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4360" y="5453380"/>
            <a:ext cx="11002975" cy="8559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5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只記三句話：</a:t>
            </a:r>
            <a:r>
              <a:rPr sz="15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做幾次比做多久重要。慢、配吐氣、中等力道。最好的方法是你明天真的會做的那一個。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lnSpc>
                <a:spcPct val="115000"/>
              </a:lnSpc>
              <a:spcAft>
                <a:spcPts val="350"/>
              </a:spcAft>
            </a:pPr>
            <a:r>
              <a:rPr sz="1000" b="0">
                <a:solidFill>
                  <a:srgbClr val="6B6280"/>
                </a:solidFill>
                <a:latin typeface="Microsoft JhengHei"/>
                <a:ea typeface="Microsoft JhengHei"/>
                <a:cs typeface="Microsoft JhengHei"/>
              </a:rPr>
              <a:t>來源：下一堂：身心修復｜練習身心運動，找回天然的自癒力。聯絡人：許晊豪老師。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參考文獻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今天引用的研究（一）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501487" cy="5166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Au DWH, Tsang HWH, Ling PPM, et al. Effects of acupressure on anxiety: a systematic review and meta-analysis. Acupunct Med. 2015;33(5):353-359.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Baer RA, Smith GT, Hopkins J, et al. Using self-report assessment methods to explore facets of mindfulness. Assessment. 2006;13(1):27-45.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Balban MY, Neri E, Kogon MM, et al. Brief structured respiration practices enhance mood and reduce physiological arousal. Cell Rep Med. 2023;4(1):100895.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Basso JC, McHale A, Ende V, Oberlin DJ, Suzuki WA. Brief, daily meditation enhances attention, memory, mood, and emotional regulation in non-experienced meditators. Behav Brain Res. 2019;356:208-220.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Carmody J, Baer RA. How long does a mindfulness-based stress reduction program need to be? A review of class contact hours and effect sizes for psychological distress. J Clin Psychol. 2009;65(6):627-638.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Davis HL, Alabed S, Chico TJA. Effect of sports massage on performance and recovery: a systematic review and meta-analysis. BMJ Open Sport Exerc Med. 2020;6:e000614.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1417320"/>
            <a:ext cx="5501487" cy="5166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de Witte M, Pinho ADS, Stams GJ, et al. Music therapy for stress reduction: a systematic review and meta-analysis. Health Psychol Rev. 2022;16(1):134-159.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de Witte M, Spruit A, van Hooren S, et al. Effects of music interventions on stress-related outcomes: a systematic review and two meta-analyses. Health Psychol Rev. 2020;14(2):294-324.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Diego MA, Field T, Sanders C, Hernandez-Reif M. Massage therapy of moderate and light pressure and vibrator effects on EEG and heart rate. Int J Neurosci. 2004;114(1):31-44.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Fincham GW, Strauss C, Montero-Marin J, Cavanagh K. Effect of breathwork on stress and mental health: a meta-analysis of randomised-controlled trials. Sci Rep. 2023;13:432.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Goessl VC, Curtiss JE, Hofmann SG. The effect of heart rate variability biofeedback training on stress and anxiety: a meta-analysis. Psychol Med. 2017;47(15):2578-2586.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參考文獻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今天引用的研究（二）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501487" cy="5166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Goyal M, Singh S, Sibinga EMS, et al. Meditation programs for psychological stress and well-being: a systematic review and meta-analysis. JAMA Intern Med. 2014;174(3):357-368.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Hanley AW, Warner AR, Dehili VM, Canto AI, Garland EL. Washing dishes to wash the mind: brief instruction in an informal mindfulness practice. Mindfulness. 2015;6:1095-1103.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Hofmann SG, Sawyer AT, Witt AA, Oh D. The effect of mindfulness-based therapy on anxiety and depression: a meta-analytic review. J Consult Clin Psychol. 2010;78(2):169-183.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Hunter MR, Gillespie BW, Chen SYP. Urban nature experiences reduce stress in the context of daily life based on salivary biomarkers. Front Psychol. 2019;10:722.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Kabat-Zinn J. Full Catastrophe Living: Using the Wisdom of Your Body and Mind to Face Stress, Pain, and Illness. New York: Delacorte; 1990.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Khoury B, Sharma M, Rush SE, Fournier C. Mindfulness-based stress reduction for healthy individuals: a meta-analysis. J Psychosom Res. 2015;78(6):519-528.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1417320"/>
            <a:ext cx="5501487" cy="5166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Killingsworth MA, Gilbert DT. A wandering mind is an unhappy mind. Science. 2010;330(6006):932.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Ko J, Deprez D, Shaw K, et al. Stretching is superior to brisk walking for reducing blood pressure in people with high-normal blood pressure or stage I hypertension. J Phys Act Health. 2021;18(1):21-28.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Lieberman MD, Eisenberger NI, Crockett MJ, et al. Putting feelings into words: affect labeling disrupts amygdala activity. Psychol Sci. 2007;18(5):421-428.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Manzoni GM, Pagnini F, Castelnuovo G, Molinari E. Relaxation training for anxiety: a ten-years systematic review with meta-analysis. BMC Psychiatry. 2008;8:41.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Meier M, Unternaehrer E, Dimitroff SJ, et al. Standardized massage interventions as protocols for the induction of psychophysiological relaxation in the laboratory. Sci Rep. 2020;10:14774.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參考文獻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今天引用的研究（三）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501487" cy="5166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Montero-Marín J, Asún S, Estrada-Marcén N, et al. Effectiveness of a stretching program on anxiety levels of workers in a logistic platform: a randomized controlled study. Aten Primaria. 2013;45(7):376-383.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Moyer CA, Rounds J, Hannum JW. A meta-analysis of massage therapy research. Psychol Bull. 2004;130(1):3-18.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Mueck-Weymann M, Janshoff G, Mueck H. Stretching increases heart rate variability in healthy athletes complaining about limited muscular flexibility. Clin Auton Res. 2004;14(1):15-18.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Noetel M, Sanders T, Gallardo-Gómez D, et al. Effect of exercise for depression: systematic review and network meta-analysis of randomised controlled trials. BMJ. 2024;384:e075847.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Packheiser J, Hartmann H, Fredriksen K, et al. A systematic review and multivariate meta-analysis of the physical and mental health benefits of touch interventions. Nat Hum Behav. 2024;8:1088-1107.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1417320"/>
            <a:ext cx="5501487" cy="5166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Pascoe MC, Thompson DR, Ski CF. Yoga, mindfulness-based stress reduction and stress-related physiological measures: a meta-analysis. Psychoneuroendocrinology. 2017;86:152-168.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Richardson KM, Rothstein HR. Effects of occupational stress management intervention programs: a meta-analysis. J Occup Health Psychol. 2008;13(1):69-93.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Singh B, Olds T, Curtis R, et al. Effectiveness of physical activity interventions for improving depression, anxiety and distress: an overview of systematic reviews. Br J Sports Med. 2023;57:1203-1209.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Wiewelhove T, Döweling A, Schneider C, et al. A meta-analysis of the effects of foam rolling on performance and recovery. Front Physiol. 2019;10:376.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419"/>
              </a:spcAft>
            </a:pPr>
            <a:r>
              <a:rPr sz="1200" b="1">
                <a:solidFill>
                  <a:srgbClr val="7B4FB3"/>
                </a:solidFill>
                <a:latin typeface="Microsoft JhengHei"/>
                <a:ea typeface="Microsoft JhengHei"/>
                <a:cs typeface="Microsoft JhengHei"/>
              </a:rPr>
              <a:t>圖片來源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1050"/>
              </a:spcAft>
            </a:pPr>
            <a:r>
              <a:rPr sz="3000" b="1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圖片來源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501487" cy="5166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照片皆取自 Pexels（pexels.com），依 Pexels 授權可免費使用於教學簡報，不需署名；此處仍列出原始網址以便查核。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封面長者坐姿運動課：pexels.com/photo/11674390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第一部分肩頸按摩：pexels.com/photo/7235054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第二部分長者伸展：pexels.com/photo/6815695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第三部分戶外呼吸：pexels.com/photo/40266639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自己按後頸：pexels.com/photo/4506105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頭皮按摩：pexels.com/photo/6663371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1417320"/>
            <a:ext cx="5501487" cy="5166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手部按摩：pexels.com/photo/3865552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腳底自我按摩：pexels.com/photo/13716991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按摩球靠牆：pexels.com/photo/4498299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刺球：pexels.com/photo/11170468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收尾長者舉手伸展：pexels.com/photo/6975769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新封面長者課堂：pexels.com/photo/11674389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2B1B3D"/>
                </a:solidFill>
                <a:latin typeface="Microsoft JhengHei"/>
                <a:ea typeface="Microsoft JhengHei"/>
                <a:cs typeface="Microsoft JhengHei"/>
              </a:rPr>
              <a:t>伸展示範：pexels.com/photo/14036851、5038865、8172929、3768179、4853029、4662451、5036898、6697186、7592340、6975796、6975780、5793654、7900674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